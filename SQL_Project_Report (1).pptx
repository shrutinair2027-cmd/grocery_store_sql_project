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Lst>
  <p:sldSz cy="6858000" cx="12192000"/>
  <p:notesSz cx="6858000" cy="9144000"/>
  <p:embeddedFontLst>
    <p:embeddedFont>
      <p:font typeface="Lato Black"/>
      <p:bold r:id="rId17"/>
      <p:boldItalic r:id="rId18"/>
    </p:embeddedFont>
    <p:embeddedFont>
      <p:font typeface="Libre Baskerville"/>
      <p:regular r:id="rId19"/>
      <p:bold r:id="rId20"/>
      <p:italic r:id="rId21"/>
      <p:boldItalic r:id="rId22"/>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3" roundtripDataSignature="AMtx7mgUdOgEg4pGcdaK6As9ApxagIZCt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ibreBaskerville-bold.fntdata"/><Relationship Id="rId11" Type="http://schemas.openxmlformats.org/officeDocument/2006/relationships/slide" Target="slides/slide7.xml"/><Relationship Id="rId22" Type="http://schemas.openxmlformats.org/officeDocument/2006/relationships/font" Target="fonts/LibreBaskerville-boldItalic.fntdata"/><Relationship Id="rId10" Type="http://schemas.openxmlformats.org/officeDocument/2006/relationships/slide" Target="slides/slide6.xml"/><Relationship Id="rId21" Type="http://schemas.openxmlformats.org/officeDocument/2006/relationships/font" Target="fonts/LibreBaskerville-italic.fntdata"/><Relationship Id="rId13" Type="http://schemas.openxmlformats.org/officeDocument/2006/relationships/slide" Target="slides/slide9.xml"/><Relationship Id="rId12" Type="http://schemas.openxmlformats.org/officeDocument/2006/relationships/slide" Target="slides/slide8.xml"/><Relationship Id="rId23" Type="http://customschemas.google.com/relationships/presentationmetadata" Target="meta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font" Target="fonts/LatoBlack-bold.fntdata"/><Relationship Id="rId16" Type="http://schemas.openxmlformats.org/officeDocument/2006/relationships/slide" Target="slides/slide12.xml"/><Relationship Id="rId5" Type="http://schemas.openxmlformats.org/officeDocument/2006/relationships/slide" Target="slides/slide1.xml"/><Relationship Id="rId19" Type="http://schemas.openxmlformats.org/officeDocument/2006/relationships/font" Target="fonts/LibreBaskerville-regular.fntdata"/><Relationship Id="rId6" Type="http://schemas.openxmlformats.org/officeDocument/2006/relationships/slide" Target="slides/slide2.xml"/><Relationship Id="rId18" Type="http://schemas.openxmlformats.org/officeDocument/2006/relationships/font" Target="fonts/LatoBlack-boldItalic.fntdata"/><Relationship Id="rId7" Type="http://schemas.openxmlformats.org/officeDocument/2006/relationships/slide" Target="slides/slide3.xml"/><Relationship Id="rId8" Type="http://schemas.openxmlformats.org/officeDocument/2006/relationships/slide" Target="slides/slide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I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400"/>
              <a:buFont typeface="Calibri"/>
              <a:buNone/>
            </a:pPr>
            <a:r>
              <a:t/>
            </a:r>
            <a:endParaRPr/>
          </a:p>
        </p:txBody>
      </p:sp>
      <p:sp>
        <p:nvSpPr>
          <p:cNvPr id="96" name="Google Shape;96;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2" name="Google Shape;102;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SzPts val="1400"/>
              <a:buNone/>
            </a:pPr>
            <a:r>
              <a:t/>
            </a:r>
            <a:endParaRPr/>
          </a:p>
        </p:txBody>
      </p:sp>
      <p:sp>
        <p:nvSpPr>
          <p:cNvPr id="108" name="Google Shape;108;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3d6716f47d0_0_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14" name="Google Shape;114;g3d6716f47d0_0_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5" name="Google Shape;115;g3d6716f47d0_0_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d6716f47d0_0_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d6716f47d0_0_1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2" name="Google Shape;122;g3d6716f47d0_0_1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d6716f47d0_0_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d6716f47d0_0_1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9" name="Google Shape;129;g3d6716f47d0_0_1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d6716f47d0_0_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d6716f47d0_0_24: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6" name="Google Shape;136;g3d6716f47d0_0_24: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3d6716f47d0_0_3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3d6716f47d0_0_30: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3" name="Google Shape;143;g3d6716f47d0_0_30: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d6716f47d0_0_4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d6716f47d0_0_42: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0" name="Google Shape;150;g3d6716f47d0_0_42: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4" name="Shape 154"/>
        <p:cNvGrpSpPr/>
        <p:nvPr/>
      </p:nvGrpSpPr>
      <p:grpSpPr>
        <a:xfrm>
          <a:off x="0" y="0"/>
          <a:ext cx="0" cy="0"/>
          <a:chOff x="0" y="0"/>
          <a:chExt cx="0" cy="0"/>
        </a:xfrm>
      </p:grpSpPr>
      <p:sp>
        <p:nvSpPr>
          <p:cNvPr id="155" name="Google Shape;155;g3d6716f47d0_0_3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56" name="Google Shape;156;g3d6716f47d0_0_36: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7" name="Google Shape;157;g3d6716f47d0_0_36: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3d6716f47d0_0_4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
        <p:nvSpPr>
          <p:cNvPr id="164" name="Google Shape;164;g3d6716f47d0_0_48:notes"/>
          <p:cNvSpPr txBox="1"/>
          <p:nvPr>
            <p:ph idx="1" type="body"/>
          </p:nvPr>
        </p:nvSpPr>
        <p:spPr>
          <a:xfrm>
            <a:off x="685800" y="4400550"/>
            <a:ext cx="5486400" cy="3600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5" name="Google Shape;165;g3d6716f47d0_0_48:notes"/>
          <p:cNvSpPr txBox="1"/>
          <p:nvPr>
            <p:ph idx="12" type="sldNum"/>
          </p:nvPr>
        </p:nvSpPr>
        <p:spPr>
          <a:xfrm>
            <a:off x="3884613" y="8685213"/>
            <a:ext cx="2971800" cy="4587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Arial"/>
              <a:buNone/>
            </a:pPr>
            <a:fld id="{00000000-1234-1234-1234-123412341234}" type="slidenum">
              <a:rPr lang="en-IN"/>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0"/>
              </a:spcBef>
              <a:spcAft>
                <a:spcPts val="0"/>
              </a:spcAft>
              <a:buClr>
                <a:schemeClr val="dk1"/>
              </a:buClr>
              <a:buSzPts val="1200"/>
              <a:buFont typeface="Calibri"/>
              <a:buNone/>
            </a:pPr>
            <a:r>
              <a:t/>
            </a:r>
            <a:endParaRPr/>
          </a:p>
        </p:txBody>
      </p:sp>
      <p:sp>
        <p:nvSpPr>
          <p:cNvPr id="171" name="Google Shape;17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7" name="Google Shape;17;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0" name="Google Shape;20;p7"/>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25" name="Google Shape;25;p9"/>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6" name="Shape 26"/>
        <p:cNvGrpSpPr/>
        <p:nvPr/>
      </p:nvGrpSpPr>
      <p:grpSpPr>
        <a:xfrm>
          <a:off x="0" y="0"/>
          <a:ext cx="0" cy="0"/>
          <a:chOff x="0" y="0"/>
          <a:chExt cx="0" cy="0"/>
        </a:xfrm>
      </p:grpSpPr>
      <p:sp>
        <p:nvSpPr>
          <p:cNvPr id="27" name="Google Shape;27;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9" name="Google Shape;2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0" name="Google Shape;3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2" name="Google Shape;32;p10"/>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3" name="Shape 33"/>
        <p:cNvGrpSpPr/>
        <p:nvPr/>
      </p:nvGrpSpPr>
      <p:grpSpPr>
        <a:xfrm>
          <a:off x="0" y="0"/>
          <a:ext cx="0" cy="0"/>
          <a:chOff x="0" y="0"/>
          <a:chExt cx="0" cy="0"/>
        </a:xfrm>
      </p:grpSpPr>
      <p:sp>
        <p:nvSpPr>
          <p:cNvPr id="34" name="Google Shape;34;p8"/>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8"/>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6" name="Google Shape;36;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8" name="Google Shape;38;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39" name="Google Shape;39;p8"/>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40" name="Shape 40"/>
        <p:cNvGrpSpPr/>
        <p:nvPr/>
      </p:nvGrpSpPr>
      <p:grpSpPr>
        <a:xfrm>
          <a:off x="0" y="0"/>
          <a:ext cx="0" cy="0"/>
          <a:chOff x="0" y="0"/>
          <a:chExt cx="0" cy="0"/>
        </a:xfrm>
      </p:grpSpPr>
      <p:sp>
        <p:nvSpPr>
          <p:cNvPr id="41" name="Google Shape;41;p1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43" name="Google Shape;43;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5" name="Google Shape;45;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46" name="Google Shape;46;p11"/>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7" name="Shape 47"/>
        <p:cNvGrpSpPr/>
        <p:nvPr/>
      </p:nvGrpSpPr>
      <p:grpSpPr>
        <a:xfrm>
          <a:off x="0" y="0"/>
          <a:ext cx="0" cy="0"/>
          <a:chOff x="0" y="0"/>
          <a:chExt cx="0" cy="0"/>
        </a:xfrm>
      </p:grpSpPr>
      <p:sp>
        <p:nvSpPr>
          <p:cNvPr id="48" name="Google Shape;48;p1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9" name="Google Shape;49;p1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0" name="Google Shape;50;p1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54" name="Google Shape;54;p12"/>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5" name="Shape 55"/>
        <p:cNvGrpSpPr/>
        <p:nvPr/>
      </p:nvGrpSpPr>
      <p:grpSpPr>
        <a:xfrm>
          <a:off x="0" y="0"/>
          <a:ext cx="0" cy="0"/>
          <a:chOff x="0" y="0"/>
          <a:chExt cx="0" cy="0"/>
        </a:xfrm>
      </p:grpSpPr>
      <p:sp>
        <p:nvSpPr>
          <p:cNvPr id="56" name="Google Shape;56;p13"/>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1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8" name="Google Shape;58;p1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9" name="Google Shape;59;p1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0" name="Google Shape;60;p1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1" name="Google Shape;61;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3" name="Google Shape;63;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64" name="Google Shape;64;p13"/>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5" name="Shape 65"/>
        <p:cNvGrpSpPr/>
        <p:nvPr/>
      </p:nvGrpSpPr>
      <p:grpSpPr>
        <a:xfrm>
          <a:off x="0" y="0"/>
          <a:ext cx="0" cy="0"/>
          <a:chOff x="0" y="0"/>
          <a:chExt cx="0" cy="0"/>
        </a:xfrm>
      </p:grpSpPr>
      <p:sp>
        <p:nvSpPr>
          <p:cNvPr id="66" name="Google Shape;66;p1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7" name="Google Shape;67;p1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8" name="Google Shape;68;p1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72" name="Google Shape;72;p14"/>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3" name="Shape 73"/>
        <p:cNvGrpSpPr/>
        <p:nvPr/>
      </p:nvGrpSpPr>
      <p:grpSpPr>
        <a:xfrm>
          <a:off x="0" y="0"/>
          <a:ext cx="0" cy="0"/>
          <a:chOff x="0" y="0"/>
          <a:chExt cx="0" cy="0"/>
        </a:xfrm>
      </p:grpSpPr>
      <p:sp>
        <p:nvSpPr>
          <p:cNvPr id="74" name="Google Shape;74;p1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5" name="Google Shape;75;p15"/>
          <p:cNvSpPr/>
          <p:nvPr>
            <p:ph idx="2" type="pic"/>
          </p:nvPr>
        </p:nvSpPr>
        <p:spPr>
          <a:xfrm>
            <a:off x="5183188" y="987425"/>
            <a:ext cx="6172200" cy="4873625"/>
          </a:xfrm>
          <a:prstGeom prst="rect">
            <a:avLst/>
          </a:prstGeom>
          <a:noFill/>
          <a:ln>
            <a:noFill/>
          </a:ln>
        </p:spPr>
      </p:sp>
      <p:sp>
        <p:nvSpPr>
          <p:cNvPr id="76" name="Google Shape;76;p1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7" name="Google Shape;77;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1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0" name="Google Shape;80;p15"/>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81" name="Shape 81"/>
        <p:cNvGrpSpPr/>
        <p:nvPr/>
      </p:nvGrpSpPr>
      <p:grpSpPr>
        <a:xfrm>
          <a:off x="0" y="0"/>
          <a:ext cx="0" cy="0"/>
          <a:chOff x="0" y="0"/>
          <a:chExt cx="0" cy="0"/>
        </a:xfrm>
      </p:grpSpPr>
      <p:sp>
        <p:nvSpPr>
          <p:cNvPr id="82" name="Google Shape;82;p1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3" name="Google Shape;83;p1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4" name="Google Shape;84;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5" name="Google Shape;85;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86" name="Google Shape;86;p1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pic>
        <p:nvPicPr>
          <p:cNvPr id="87" name="Google Shape;87;p16"/>
          <p:cNvPicPr preferRelativeResize="0"/>
          <p:nvPr/>
        </p:nvPicPr>
        <p:blipFill rotWithShape="1">
          <a:blip r:embed="rId2">
            <a:alphaModFix/>
          </a:blip>
          <a:srcRect b="0" l="0" r="0" t="0"/>
          <a:stretch/>
        </p:blipFill>
        <p:spPr>
          <a:xfrm>
            <a:off x="8814232" y="6184984"/>
            <a:ext cx="3225397" cy="673016"/>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8" name="Shape 88"/>
        <p:cNvGrpSpPr/>
        <p:nvPr/>
      </p:nvGrpSpPr>
      <p:grpSpPr>
        <a:xfrm>
          <a:off x="0" y="0"/>
          <a:ext cx="0" cy="0"/>
          <a:chOff x="0" y="0"/>
          <a:chExt cx="0" cy="0"/>
        </a:xfrm>
      </p:grpSpPr>
      <p:sp>
        <p:nvSpPr>
          <p:cNvPr id="89" name="Google Shape;89;p17"/>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0" name="Google Shape;90;p1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1" name="Google Shape;9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1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6"/>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 name="Google Shape;12;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 name="Google Shape;13;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 name="Google Shape;14;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hyperlink" Target="http://www.linkedin.com/in/shrutika-nair-529b34239"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pic>
        <p:nvPicPr>
          <p:cNvPr id="98" name="Google Shape;98;p1"/>
          <p:cNvPicPr preferRelativeResize="0"/>
          <p:nvPr/>
        </p:nvPicPr>
        <p:blipFill rotWithShape="1">
          <a:blip r:embed="rId3">
            <a:alphaModFix/>
          </a:blip>
          <a:srcRect b="0" l="0" r="0" t="0"/>
          <a:stretch/>
        </p:blipFill>
        <p:spPr>
          <a:xfrm>
            <a:off x="592" y="0"/>
            <a:ext cx="12190815" cy="6694098"/>
          </a:xfrm>
          <a:prstGeom prst="rect">
            <a:avLst/>
          </a:prstGeom>
          <a:noFill/>
          <a:ln>
            <a:noFill/>
          </a:ln>
        </p:spPr>
      </p:pic>
      <p:sp>
        <p:nvSpPr>
          <p:cNvPr id="99" name="Google Shape;99;p1"/>
          <p:cNvSpPr txBox="1"/>
          <p:nvPr/>
        </p:nvSpPr>
        <p:spPr>
          <a:xfrm>
            <a:off x="2472904" y="3717986"/>
            <a:ext cx="7246200" cy="1877700"/>
          </a:xfrm>
          <a:prstGeom prst="rect">
            <a:avLst/>
          </a:prstGeom>
          <a:noFill/>
          <a:ln>
            <a:noFill/>
          </a:ln>
        </p:spPr>
        <p:txBody>
          <a:bodyPr anchorCtr="0" anchor="t" bIns="45700" lIns="91425" spcFirstLastPara="1" rIns="91425" wrap="square" tIns="45700">
            <a:spAutoFit/>
          </a:bodyPr>
          <a:lstStyle/>
          <a:p>
            <a:pPr indent="0" lvl="0" marL="0" rtl="0" algn="ctr">
              <a:spcBef>
                <a:spcPts val="0"/>
              </a:spcBef>
              <a:spcAft>
                <a:spcPts val="0"/>
              </a:spcAft>
              <a:buClr>
                <a:schemeClr val="dk1"/>
              </a:buClr>
              <a:buSzPts val="1800"/>
              <a:buFont typeface="Arial"/>
              <a:buNone/>
            </a:pPr>
            <a:r>
              <a:rPr b="1" lang="en-IN" sz="2800">
                <a:solidFill>
                  <a:srgbClr val="1155CC"/>
                </a:solidFill>
              </a:rPr>
              <a:t>SQL  Project </a:t>
            </a:r>
            <a:endParaRPr b="1" sz="2800">
              <a:solidFill>
                <a:schemeClr val="dk1"/>
              </a:solidFill>
            </a:endParaRPr>
          </a:p>
          <a:p>
            <a:pPr indent="0" lvl="0" marL="0" rtl="0" algn="ctr">
              <a:spcBef>
                <a:spcPts val="0"/>
              </a:spcBef>
              <a:spcAft>
                <a:spcPts val="0"/>
              </a:spcAft>
              <a:buClr>
                <a:schemeClr val="dk1"/>
              </a:buClr>
              <a:buFont typeface="Arial"/>
              <a:buNone/>
            </a:pPr>
            <a:r>
              <a:rPr b="1" lang="en-IN" sz="2800">
                <a:solidFill>
                  <a:srgbClr val="1155CC"/>
                </a:solidFill>
              </a:rPr>
              <a:t>Grocery_Store_Management</a:t>
            </a:r>
            <a:endParaRPr b="1" sz="2800">
              <a:solidFill>
                <a:srgbClr val="1155CC"/>
              </a:solidFill>
            </a:endParaRPr>
          </a:p>
          <a:p>
            <a:pPr indent="0" lvl="0" marL="0" rtl="0" algn="ctr">
              <a:spcBef>
                <a:spcPts val="0"/>
              </a:spcBef>
              <a:spcAft>
                <a:spcPts val="0"/>
              </a:spcAft>
              <a:buClr>
                <a:schemeClr val="dk1"/>
              </a:buClr>
              <a:buFont typeface="Arial"/>
              <a:buNone/>
            </a:pPr>
            <a:r>
              <a:t/>
            </a:r>
            <a:endParaRPr b="1" sz="2800">
              <a:solidFill>
                <a:srgbClr val="1155CC"/>
              </a:solidFill>
            </a:endParaRPr>
          </a:p>
          <a:p>
            <a:pPr indent="0" lvl="0" marL="0" rtl="0" algn="ctr">
              <a:spcBef>
                <a:spcPts val="0"/>
              </a:spcBef>
              <a:spcAft>
                <a:spcPts val="0"/>
              </a:spcAft>
              <a:buClr>
                <a:schemeClr val="dk1"/>
              </a:buClr>
              <a:buFont typeface="Arial"/>
              <a:buNone/>
            </a:pPr>
            <a:r>
              <a:rPr b="1" lang="en-IN" sz="3200">
                <a:solidFill>
                  <a:schemeClr val="dk1"/>
                </a:solidFill>
                <a:highlight>
                  <a:srgbClr val="C0C0C0"/>
                </a:highlight>
              </a:rPr>
              <a:t>Shrutika Nair</a:t>
            </a:r>
            <a:endParaRPr sz="1800">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3"/>
          <p:cNvSpPr txBox="1"/>
          <p:nvPr/>
        </p:nvSpPr>
        <p:spPr>
          <a:xfrm>
            <a:off x="835425" y="1807800"/>
            <a:ext cx="10765500" cy="4063500"/>
          </a:xfrm>
          <a:prstGeom prst="rect">
            <a:avLst/>
          </a:prstGeom>
          <a:noFill/>
          <a:ln>
            <a:noFill/>
          </a:ln>
        </p:spPr>
        <p:txBody>
          <a:bodyPr anchorCtr="0" anchor="t" bIns="45700" lIns="91425" spcFirstLastPara="1" rIns="91425" wrap="square" tIns="45700">
            <a:spAutoFit/>
          </a:bodyPr>
          <a:lstStyle/>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BBA(CA), 2020, Sinhagad College of Arts, Science and commerce(Pune University)</a:t>
            </a:r>
            <a:endParaRPr sz="2000">
              <a:solidFill>
                <a:schemeClr val="dk1"/>
              </a:solidFill>
            </a:endParaRPr>
          </a:p>
          <a:p>
            <a:pPr indent="-171450" lvl="0" marL="285750" rtl="0" algn="l">
              <a:spcBef>
                <a:spcPts val="0"/>
              </a:spcBef>
              <a:spcAft>
                <a:spcPts val="0"/>
              </a:spcAft>
              <a:buClr>
                <a:schemeClr val="dk1"/>
              </a:buClr>
              <a:buSzPts val="1100"/>
              <a:buFont typeface="Arial"/>
              <a:buNone/>
            </a:pPr>
            <a:r>
              <a:t/>
            </a:r>
            <a:endParaRPr b="1" sz="2400">
              <a:solidFill>
                <a:schemeClr val="dk1"/>
              </a:solidFill>
              <a:latin typeface="Calibri"/>
              <a:ea typeface="Calibri"/>
              <a:cs typeface="Calibri"/>
              <a:sym typeface="Calibri"/>
            </a:endParaRPr>
          </a:p>
          <a:p>
            <a:pPr indent="-381000" lvl="0" marL="457200" rtl="0" algn="l">
              <a:spcBef>
                <a:spcPts val="0"/>
              </a:spcBef>
              <a:spcAft>
                <a:spcPts val="0"/>
              </a:spcAft>
              <a:buClr>
                <a:schemeClr val="dk1"/>
              </a:buClr>
              <a:buSzPts val="2400"/>
              <a:buChar char="•"/>
            </a:pPr>
            <a:r>
              <a:rPr b="1" lang="en-IN" sz="2400">
                <a:solidFill>
                  <a:schemeClr val="dk1"/>
                </a:solidFill>
                <a:latin typeface="Calibri"/>
                <a:ea typeface="Calibri"/>
                <a:cs typeface="Calibri"/>
                <a:sym typeface="Calibri"/>
              </a:rPr>
              <a:t>Aspiring Data Analyst with 3+ years of experience in operations, administration, and customer coordination. Currently upskilling in data analysis with hands on experience in Python, SQL, Exploratory Data Analysis (EDA),Power BI dashboard development(Dashboarding), Web Scraping. Skilled in data cleaning, analysis, and visualization to identify trends and generate actionable insights.</a:t>
            </a:r>
            <a:endParaRPr b="1" sz="2400">
              <a:solidFill>
                <a:schemeClr val="dk1"/>
              </a:solidFill>
              <a:latin typeface="Calibri"/>
              <a:ea typeface="Calibri"/>
              <a:cs typeface="Calibri"/>
              <a:sym typeface="Calibri"/>
            </a:endParaRPr>
          </a:p>
          <a:p>
            <a:pPr indent="-171450" lvl="0" marL="285750" rtl="0" algn="l">
              <a:spcBef>
                <a:spcPts val="0"/>
              </a:spcBef>
              <a:spcAft>
                <a:spcPts val="0"/>
              </a:spcAft>
              <a:buClr>
                <a:schemeClr val="dk1"/>
              </a:buClr>
              <a:buSzPts val="1100"/>
              <a:buFont typeface="Arial"/>
              <a:buNone/>
            </a:pPr>
            <a:r>
              <a:t/>
            </a:r>
            <a:endParaRPr b="1" sz="2400">
              <a:solidFill>
                <a:schemeClr val="dk1"/>
              </a:solidFill>
              <a:latin typeface="Calibri"/>
              <a:ea typeface="Calibri"/>
              <a:cs typeface="Calibri"/>
              <a:sym typeface="Calibri"/>
            </a:endParaRPr>
          </a:p>
          <a:p>
            <a:pPr indent="-342900" lvl="0" marL="457200" rtl="0" algn="l">
              <a:spcBef>
                <a:spcPts val="0"/>
              </a:spcBef>
              <a:spcAft>
                <a:spcPts val="0"/>
              </a:spcAft>
              <a:buClr>
                <a:schemeClr val="dk1"/>
              </a:buClr>
              <a:buSzPts val="1800"/>
              <a:buFont typeface="Calibri"/>
              <a:buChar char="•"/>
            </a:pPr>
            <a:r>
              <a:rPr b="1" lang="en-IN" sz="2400">
                <a:solidFill>
                  <a:schemeClr val="dk1"/>
                </a:solidFill>
                <a:latin typeface="Calibri"/>
                <a:ea typeface="Calibri"/>
                <a:cs typeface="Calibri"/>
                <a:sym typeface="Calibri"/>
              </a:rPr>
              <a:t>Linkedin: </a:t>
            </a:r>
            <a:r>
              <a:rPr b="1" lang="en-IN" sz="2200">
                <a:solidFill>
                  <a:schemeClr val="dk1"/>
                </a:solidFill>
                <a:latin typeface="Calibri"/>
                <a:ea typeface="Calibri"/>
                <a:cs typeface="Calibri"/>
                <a:sym typeface="Calibri"/>
              </a:rPr>
              <a:t> </a:t>
            </a:r>
            <a:r>
              <a:rPr lang="en-IN" sz="2200" u="sng">
                <a:solidFill>
                  <a:schemeClr val="hlink"/>
                </a:solidFill>
                <a:highlight>
                  <a:schemeClr val="lt1"/>
                </a:highlight>
                <a:hlinkClick r:id="rId3"/>
              </a:rPr>
              <a:t>www.linkedin.com/in/shrutika-nair-529b34239</a:t>
            </a:r>
            <a:endParaRPr b="1" sz="2200">
              <a:solidFill>
                <a:schemeClr val="dk1"/>
              </a:solidFill>
              <a:latin typeface="Calibri"/>
              <a:ea typeface="Calibri"/>
              <a:cs typeface="Calibri"/>
              <a:sym typeface="Calibri"/>
            </a:endParaRPr>
          </a:p>
          <a:p>
            <a:pPr indent="0" lvl="0" marL="0" rtl="0" algn="l">
              <a:spcBef>
                <a:spcPts val="0"/>
              </a:spcBef>
              <a:spcAft>
                <a:spcPts val="0"/>
              </a:spcAft>
              <a:buNone/>
            </a:pPr>
            <a:r>
              <a:t/>
            </a:r>
            <a:endParaRPr b="1" sz="1800">
              <a:solidFill>
                <a:schemeClr val="dk1"/>
              </a:solidFill>
              <a:latin typeface="Calibri"/>
              <a:ea typeface="Calibri"/>
              <a:cs typeface="Calibri"/>
              <a:sym typeface="Calibri"/>
            </a:endParaRPr>
          </a:p>
        </p:txBody>
      </p:sp>
      <p:sp>
        <p:nvSpPr>
          <p:cNvPr id="105" name="Google Shape;105;p3"/>
          <p:cNvSpPr txBox="1"/>
          <p:nvPr/>
        </p:nvSpPr>
        <p:spPr>
          <a:xfrm>
            <a:off x="427656" y="416554"/>
            <a:ext cx="6099463" cy="495905"/>
          </a:xfrm>
          <a:prstGeom prst="rect">
            <a:avLst/>
          </a:prstGeom>
          <a:noFill/>
          <a:ln>
            <a:noFill/>
          </a:ln>
        </p:spPr>
        <p:txBody>
          <a:bodyPr anchorCtr="0" anchor="t" bIns="45700" lIns="91425" spcFirstLastPara="1" rIns="91425" wrap="square" tIns="45700">
            <a:spAutoFit/>
          </a:bodyPr>
          <a:lstStyle/>
          <a:p>
            <a:pPr indent="0" lvl="0" marL="0" marR="0" rtl="0" algn="l">
              <a:lnSpc>
                <a:spcPct val="80000"/>
              </a:lnSpc>
              <a:spcBef>
                <a:spcPts val="0"/>
              </a:spcBef>
              <a:spcAft>
                <a:spcPts val="0"/>
              </a:spcAft>
              <a:buClr>
                <a:srgbClr val="FF0000"/>
              </a:buClr>
              <a:buSzPts val="3200"/>
              <a:buFont typeface="Lato Black"/>
              <a:buNone/>
            </a:pPr>
            <a:r>
              <a:rPr b="0" i="0" lang="en-IN" sz="3200" u="none" cap="none" strike="noStrike">
                <a:solidFill>
                  <a:srgbClr val="FF0000"/>
                </a:solidFill>
                <a:latin typeface="Lato Black"/>
                <a:ea typeface="Lato Black"/>
                <a:cs typeface="Lato Black"/>
                <a:sym typeface="Lato Black"/>
              </a:rPr>
              <a:t>About me</a:t>
            </a:r>
            <a:endParaRPr b="0" i="0" sz="1800" u="none" cap="none" strike="noStrike">
              <a:solidFill>
                <a:srgbClr val="FF0000"/>
              </a:solidFill>
              <a:latin typeface="Calibri"/>
              <a:ea typeface="Calibri"/>
              <a:cs typeface="Calibri"/>
              <a:sym typeface="Calibri"/>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05"/>
                                        </p:tgtEl>
                                        <p:attrNameLst>
                                          <p:attrName>style.visibility</p:attrName>
                                        </p:attrNameLst>
                                      </p:cBhvr>
                                      <p:to>
                                        <p:strVal val="visible"/>
                                      </p:to>
                                    </p:set>
                                    <p:animEffect filter="fade" transition="in">
                                      <p:cBhvr>
                                        <p:cTn dur="500"/>
                                        <p:tgtEl>
                                          <p:spTgt spid="1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p4"/>
          <p:cNvSpPr txBox="1"/>
          <p:nvPr>
            <p:ph type="title"/>
          </p:nvPr>
        </p:nvSpPr>
        <p:spPr>
          <a:xfrm>
            <a:off x="208472" y="18255"/>
            <a:ext cx="10515600" cy="132556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Calibri"/>
              <a:buNone/>
            </a:pPr>
            <a:r>
              <a:rPr b="1" lang="en-IN">
                <a:solidFill>
                  <a:srgbClr val="FF0000"/>
                </a:solidFill>
              </a:rPr>
              <a:t>Objective </a:t>
            </a:r>
            <a:endParaRPr b="1">
              <a:solidFill>
                <a:srgbClr val="FF0000"/>
              </a:solidFill>
            </a:endParaRPr>
          </a:p>
        </p:txBody>
      </p:sp>
      <p:sp>
        <p:nvSpPr>
          <p:cNvPr id="111" name="Google Shape;111;p4"/>
          <p:cNvSpPr txBox="1"/>
          <p:nvPr>
            <p:ph idx="1" type="body"/>
          </p:nvPr>
        </p:nvSpPr>
        <p:spPr>
          <a:xfrm>
            <a:off x="684880" y="1919030"/>
            <a:ext cx="10515600" cy="4351338"/>
          </a:xfrm>
          <a:prstGeom prst="rect">
            <a:avLst/>
          </a:prstGeom>
          <a:noFill/>
          <a:ln>
            <a:noFill/>
          </a:ln>
        </p:spPr>
        <p:txBody>
          <a:bodyPr anchorCtr="0" anchor="t" bIns="45700" lIns="91425" spcFirstLastPara="1" rIns="91425" wrap="square" tIns="45700">
            <a:normAutofit/>
          </a:bodyPr>
          <a:lstStyle/>
          <a:p>
            <a:pPr indent="-406400" lvl="0" marL="457200" rtl="0" algn="l">
              <a:lnSpc>
                <a:spcPct val="115000"/>
              </a:lnSpc>
              <a:spcBef>
                <a:spcPts val="1200"/>
              </a:spcBef>
              <a:spcAft>
                <a:spcPts val="0"/>
              </a:spcAft>
              <a:buSzPts val="2800"/>
              <a:buChar char="●"/>
            </a:pPr>
            <a:r>
              <a:rPr lang="en-IN">
                <a:latin typeface="Arial"/>
                <a:ea typeface="Arial"/>
                <a:cs typeface="Arial"/>
                <a:sym typeface="Arial"/>
              </a:rPr>
              <a:t>Track sales and revenue</a:t>
            </a:r>
            <a:br>
              <a:rPr lang="en-IN">
                <a:latin typeface="Arial"/>
                <a:ea typeface="Arial"/>
                <a:cs typeface="Arial"/>
                <a:sym typeface="Arial"/>
              </a:rPr>
            </a:br>
            <a:endParaRPr>
              <a:latin typeface="Arial"/>
              <a:ea typeface="Arial"/>
              <a:cs typeface="Arial"/>
              <a:sym typeface="Arial"/>
            </a:endParaRPr>
          </a:p>
          <a:p>
            <a:pPr indent="-406400" lvl="0" marL="457200" rtl="0" algn="l">
              <a:lnSpc>
                <a:spcPct val="115000"/>
              </a:lnSpc>
              <a:spcBef>
                <a:spcPts val="0"/>
              </a:spcBef>
              <a:spcAft>
                <a:spcPts val="0"/>
              </a:spcAft>
              <a:buSzPts val="2800"/>
              <a:buChar char="●"/>
            </a:pPr>
            <a:r>
              <a:rPr lang="en-IN">
                <a:latin typeface="Arial"/>
                <a:ea typeface="Arial"/>
                <a:cs typeface="Arial"/>
                <a:sym typeface="Arial"/>
              </a:rPr>
              <a:t>Monitor product availability</a:t>
            </a:r>
            <a:br>
              <a:rPr lang="en-IN">
                <a:latin typeface="Arial"/>
                <a:ea typeface="Arial"/>
                <a:cs typeface="Arial"/>
                <a:sym typeface="Arial"/>
              </a:rPr>
            </a:br>
            <a:endParaRPr>
              <a:latin typeface="Arial"/>
              <a:ea typeface="Arial"/>
              <a:cs typeface="Arial"/>
              <a:sym typeface="Arial"/>
            </a:endParaRPr>
          </a:p>
          <a:p>
            <a:pPr indent="-406400" lvl="0" marL="457200" rtl="0" algn="l">
              <a:lnSpc>
                <a:spcPct val="115000"/>
              </a:lnSpc>
              <a:spcBef>
                <a:spcPts val="0"/>
              </a:spcBef>
              <a:spcAft>
                <a:spcPts val="0"/>
              </a:spcAft>
              <a:buSzPts val="2800"/>
              <a:buChar char="●"/>
            </a:pPr>
            <a:r>
              <a:rPr lang="en-IN">
                <a:latin typeface="Arial"/>
                <a:ea typeface="Arial"/>
                <a:cs typeface="Arial"/>
                <a:sym typeface="Arial"/>
              </a:rPr>
              <a:t>Analyze customer and employee activity</a:t>
            </a:r>
            <a:br>
              <a:rPr lang="en-IN">
                <a:latin typeface="Arial"/>
                <a:ea typeface="Arial"/>
                <a:cs typeface="Arial"/>
                <a:sym typeface="Arial"/>
              </a:rPr>
            </a:br>
            <a:endParaRPr>
              <a:latin typeface="Arial"/>
              <a:ea typeface="Arial"/>
              <a:cs typeface="Arial"/>
              <a:sym typeface="Arial"/>
            </a:endParaRPr>
          </a:p>
          <a:p>
            <a:pPr indent="-406400" lvl="0" marL="457200" rtl="0" algn="l">
              <a:lnSpc>
                <a:spcPct val="115000"/>
              </a:lnSpc>
              <a:spcBef>
                <a:spcPts val="0"/>
              </a:spcBef>
              <a:spcAft>
                <a:spcPts val="0"/>
              </a:spcAft>
              <a:buSzPts val="2800"/>
              <a:buChar char="●"/>
            </a:pPr>
            <a:r>
              <a:rPr lang="en-IN">
                <a:latin typeface="Arial"/>
                <a:ea typeface="Arial"/>
                <a:cs typeface="Arial"/>
                <a:sym typeface="Arial"/>
              </a:rPr>
              <a:t>Improve operational efficiency</a:t>
            </a:r>
            <a:endParaRPr b="1" sz="4400">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g3d6716f47d0_0_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Database Overview</a:t>
            </a:r>
            <a:endParaRPr b="1">
              <a:solidFill>
                <a:srgbClr val="FF0000"/>
              </a:solidFill>
            </a:endParaRPr>
          </a:p>
        </p:txBody>
      </p:sp>
      <p:sp>
        <p:nvSpPr>
          <p:cNvPr id="118" name="Google Shape;118;g3d6716f47d0_0_0"/>
          <p:cNvSpPr txBox="1"/>
          <p:nvPr>
            <p:ph idx="1" type="body"/>
          </p:nvPr>
        </p:nvSpPr>
        <p:spPr>
          <a:xfrm>
            <a:off x="838200" y="1807800"/>
            <a:ext cx="10515600" cy="4368900"/>
          </a:xfrm>
          <a:prstGeom prst="rect">
            <a:avLst/>
          </a:prstGeom>
        </p:spPr>
        <p:txBody>
          <a:bodyPr anchorCtr="0" anchor="t" bIns="45700" lIns="91425" spcFirstLastPara="1" rIns="91425" wrap="square" tIns="45700">
            <a:normAutofit/>
          </a:bodyPr>
          <a:lstStyle/>
          <a:p>
            <a:pPr indent="-368300" lvl="0" marL="457200" rtl="0" algn="l">
              <a:lnSpc>
                <a:spcPct val="115000"/>
              </a:lnSpc>
              <a:spcBef>
                <a:spcPts val="1000"/>
              </a:spcBef>
              <a:spcAft>
                <a:spcPts val="0"/>
              </a:spcAft>
              <a:buSzPts val="2200"/>
              <a:buChar char="➢"/>
            </a:pPr>
            <a:r>
              <a:rPr lang="en-IN" sz="3200">
                <a:latin typeface="Arial"/>
                <a:ea typeface="Arial"/>
                <a:cs typeface="Arial"/>
                <a:sym typeface="Arial"/>
              </a:rPr>
              <a:t>Customers,Orders,Order_details</a:t>
            </a:r>
            <a:endParaRPr sz="3200">
              <a:latin typeface="Arial"/>
              <a:ea typeface="Arial"/>
              <a:cs typeface="Arial"/>
              <a:sym typeface="Arial"/>
            </a:endParaRPr>
          </a:p>
          <a:p>
            <a:pPr indent="-368300" lvl="0" marL="457200" rtl="0" algn="l">
              <a:lnSpc>
                <a:spcPct val="115000"/>
              </a:lnSpc>
              <a:spcBef>
                <a:spcPts val="0"/>
              </a:spcBef>
              <a:spcAft>
                <a:spcPts val="0"/>
              </a:spcAft>
              <a:buSzPts val="2200"/>
              <a:buChar char="➢"/>
            </a:pPr>
            <a:r>
              <a:rPr lang="en-IN" sz="3200">
                <a:latin typeface="Arial"/>
                <a:ea typeface="Arial"/>
                <a:cs typeface="Arial"/>
                <a:sym typeface="Arial"/>
              </a:rPr>
              <a:t>Products,Category,Supplier</a:t>
            </a:r>
            <a:endParaRPr sz="3200">
              <a:latin typeface="Arial"/>
              <a:ea typeface="Arial"/>
              <a:cs typeface="Arial"/>
              <a:sym typeface="Arial"/>
            </a:endParaRPr>
          </a:p>
          <a:p>
            <a:pPr indent="-368300" lvl="0" marL="457200" rtl="0" algn="l">
              <a:lnSpc>
                <a:spcPct val="115000"/>
              </a:lnSpc>
              <a:spcBef>
                <a:spcPts val="0"/>
              </a:spcBef>
              <a:spcAft>
                <a:spcPts val="0"/>
              </a:spcAft>
              <a:buSzPts val="2200"/>
              <a:buChar char="➢"/>
            </a:pPr>
            <a:r>
              <a:rPr lang="en-IN" sz="3200">
                <a:latin typeface="Arial"/>
                <a:ea typeface="Arial"/>
                <a:cs typeface="Arial"/>
                <a:sym typeface="Arial"/>
              </a:rPr>
              <a:t>Employees.</a:t>
            </a:r>
            <a:endParaRPr sz="3200">
              <a:latin typeface="Arial"/>
              <a:ea typeface="Arial"/>
              <a:cs typeface="Arial"/>
              <a:sym typeface="Arial"/>
            </a:endParaRPr>
          </a:p>
          <a:p>
            <a:pPr indent="0" lvl="0" marL="457200" rtl="0" algn="l">
              <a:spcBef>
                <a:spcPts val="1000"/>
              </a:spcBef>
              <a:spcAft>
                <a:spcPts val="0"/>
              </a:spcAft>
              <a:buNone/>
            </a:pPr>
            <a:r>
              <a:t/>
            </a:r>
            <a:endParaRPr sz="3200"/>
          </a:p>
          <a:p>
            <a:pPr indent="0" lvl="0" marL="0" rtl="0" algn="l">
              <a:spcBef>
                <a:spcPts val="1000"/>
              </a:spcBef>
              <a:spcAft>
                <a:spcPts val="0"/>
              </a:spcAft>
              <a:buNone/>
            </a:pPr>
            <a:r>
              <a:rPr lang="en-IN" sz="3200"/>
              <a:t>Joined tables using primary and foreign key to perform join’s.</a:t>
            </a:r>
            <a:endParaRPr sz="32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sp>
        <p:nvSpPr>
          <p:cNvPr id="124" name="Google Shape;124;g3d6716f47d0_0_12"/>
          <p:cNvSpPr txBox="1"/>
          <p:nvPr>
            <p:ph type="title"/>
          </p:nvPr>
        </p:nvSpPr>
        <p:spPr>
          <a:xfrm>
            <a:off x="838200" y="213825"/>
            <a:ext cx="10515600" cy="12441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IN">
                <a:solidFill>
                  <a:srgbClr val="FF0000"/>
                </a:solidFill>
              </a:rPr>
              <a:t>Sales and Orders Trends</a:t>
            </a:r>
            <a:endParaRPr b="1">
              <a:solidFill>
                <a:srgbClr val="FF0000"/>
              </a:solidFill>
            </a:endParaRPr>
          </a:p>
        </p:txBody>
      </p:sp>
      <p:sp>
        <p:nvSpPr>
          <p:cNvPr id="125" name="Google Shape;125;g3d6716f47d0_0_12"/>
          <p:cNvSpPr txBox="1"/>
          <p:nvPr>
            <p:ph idx="1" type="body"/>
          </p:nvPr>
        </p:nvSpPr>
        <p:spPr>
          <a:xfrm>
            <a:off x="252200" y="1885550"/>
            <a:ext cx="11592600" cy="4549500"/>
          </a:xfrm>
          <a:prstGeom prst="rect">
            <a:avLst/>
          </a:prstGeom>
        </p:spPr>
        <p:txBody>
          <a:bodyPr anchorCtr="0" anchor="t" bIns="45700" lIns="91425" spcFirstLastPara="1" rIns="91425" wrap="square" tIns="45700">
            <a:normAutofit fontScale="25000"/>
          </a:bodyPr>
          <a:lstStyle/>
          <a:p>
            <a:pPr indent="-346563" lvl="0" marL="457200" rtl="0" algn="l">
              <a:spcBef>
                <a:spcPts val="1000"/>
              </a:spcBef>
              <a:spcAft>
                <a:spcPts val="0"/>
              </a:spcAft>
              <a:buSzPct val="100000"/>
              <a:buChar char="➢"/>
            </a:pPr>
            <a:r>
              <a:rPr lang="en-IN" sz="7431">
                <a:latin typeface="Arial"/>
                <a:ea typeface="Arial"/>
                <a:cs typeface="Arial"/>
                <a:sym typeface="Arial"/>
              </a:rPr>
              <a:t>Revenue analyzed </a:t>
            </a:r>
            <a:r>
              <a:rPr b="1" lang="en-IN" sz="7431">
                <a:latin typeface="Arial"/>
                <a:ea typeface="Arial"/>
                <a:cs typeface="Arial"/>
                <a:sym typeface="Arial"/>
              </a:rPr>
              <a:t>monthly </a:t>
            </a:r>
            <a:endParaRPr b="1" sz="7431">
              <a:latin typeface="Arial"/>
              <a:ea typeface="Arial"/>
              <a:cs typeface="Arial"/>
              <a:sym typeface="Arial"/>
            </a:endParaRPr>
          </a:p>
          <a:p>
            <a:pPr indent="-346563" lvl="0" marL="457200" rtl="0" algn="l">
              <a:lnSpc>
                <a:spcPct val="115000"/>
              </a:lnSpc>
              <a:spcBef>
                <a:spcPts val="0"/>
              </a:spcBef>
              <a:spcAft>
                <a:spcPts val="0"/>
              </a:spcAft>
              <a:buSzPct val="100000"/>
              <a:buChar char="●"/>
            </a:pPr>
            <a:r>
              <a:rPr lang="en-IN" sz="7431">
                <a:latin typeface="Arial"/>
                <a:ea typeface="Arial"/>
                <a:cs typeface="Arial"/>
                <a:sym typeface="Arial"/>
              </a:rPr>
              <a:t>A total of </a:t>
            </a:r>
            <a:r>
              <a:rPr b="1" lang="en-IN" sz="7431">
                <a:latin typeface="Arial"/>
                <a:ea typeface="Arial"/>
                <a:cs typeface="Arial"/>
                <a:sym typeface="Arial"/>
              </a:rPr>
              <a:t>300 orders</a:t>
            </a:r>
            <a:r>
              <a:rPr lang="en-IN" sz="7431">
                <a:latin typeface="Arial"/>
                <a:ea typeface="Arial"/>
                <a:cs typeface="Arial"/>
                <a:sym typeface="Arial"/>
              </a:rPr>
              <a:t> were placed during the analysis period</a:t>
            </a:r>
            <a:endParaRPr sz="7431">
              <a:latin typeface="Arial"/>
              <a:ea typeface="Arial"/>
              <a:cs typeface="Arial"/>
              <a:sym typeface="Arial"/>
            </a:endParaRPr>
          </a:p>
          <a:p>
            <a:pPr indent="-346563" lvl="0" marL="457200" rtl="0" algn="l">
              <a:lnSpc>
                <a:spcPct val="115000"/>
              </a:lnSpc>
              <a:spcBef>
                <a:spcPts val="0"/>
              </a:spcBef>
              <a:spcAft>
                <a:spcPts val="0"/>
              </a:spcAft>
              <a:buSzPct val="100000"/>
              <a:buChar char="●"/>
            </a:pPr>
            <a:r>
              <a:rPr lang="en-IN" sz="7431">
                <a:latin typeface="Arial"/>
                <a:ea typeface="Arial"/>
                <a:cs typeface="Arial"/>
                <a:sym typeface="Arial"/>
              </a:rPr>
              <a:t>Daily order volume ranged between </a:t>
            </a:r>
            <a:r>
              <a:rPr b="1" lang="en-IN" sz="7431">
                <a:latin typeface="Arial"/>
                <a:ea typeface="Arial"/>
                <a:cs typeface="Arial"/>
                <a:sym typeface="Arial"/>
              </a:rPr>
              <a:t>1 to 4 orders per day</a:t>
            </a:r>
            <a:endParaRPr b="1" sz="7431">
              <a:latin typeface="Arial"/>
              <a:ea typeface="Arial"/>
              <a:cs typeface="Arial"/>
              <a:sym typeface="Arial"/>
            </a:endParaRPr>
          </a:p>
          <a:p>
            <a:pPr indent="-346563" lvl="0" marL="457200" rtl="0" algn="l">
              <a:lnSpc>
                <a:spcPct val="115000"/>
              </a:lnSpc>
              <a:spcBef>
                <a:spcPts val="0"/>
              </a:spcBef>
              <a:spcAft>
                <a:spcPts val="0"/>
              </a:spcAft>
              <a:buSzPct val="100000"/>
              <a:buChar char="●"/>
            </a:pPr>
            <a:r>
              <a:rPr b="1" lang="en-IN" sz="7431">
                <a:latin typeface="Arial"/>
                <a:ea typeface="Arial"/>
                <a:cs typeface="Arial"/>
                <a:sym typeface="Arial"/>
              </a:rPr>
              <a:t>January, February, and December</a:t>
            </a:r>
            <a:r>
              <a:rPr lang="en-IN" sz="7431">
                <a:latin typeface="Arial"/>
                <a:ea typeface="Arial"/>
                <a:cs typeface="Arial"/>
                <a:sym typeface="Arial"/>
              </a:rPr>
              <a:t> recorded the </a:t>
            </a:r>
            <a:r>
              <a:rPr b="1" lang="en-IN" sz="7431">
                <a:latin typeface="Arial"/>
                <a:ea typeface="Arial"/>
                <a:cs typeface="Arial"/>
                <a:sym typeface="Arial"/>
              </a:rPr>
              <a:t>highest number of orders</a:t>
            </a:r>
            <a:endParaRPr b="1" sz="7431">
              <a:latin typeface="Arial"/>
              <a:ea typeface="Arial"/>
              <a:cs typeface="Arial"/>
              <a:sym typeface="Arial"/>
            </a:endParaRPr>
          </a:p>
          <a:p>
            <a:pPr indent="-346563" lvl="0" marL="457200" rtl="0" algn="l">
              <a:lnSpc>
                <a:spcPct val="115000"/>
              </a:lnSpc>
              <a:spcBef>
                <a:spcPts val="0"/>
              </a:spcBef>
              <a:spcAft>
                <a:spcPts val="0"/>
              </a:spcAft>
              <a:buSzPct val="100000"/>
              <a:buChar char="●"/>
            </a:pPr>
            <a:r>
              <a:rPr b="1" lang="en-IN" sz="7431">
                <a:latin typeface="Arial"/>
                <a:ea typeface="Arial"/>
                <a:cs typeface="Arial"/>
                <a:sym typeface="Arial"/>
              </a:rPr>
              <a:t>Weekdays generated more orders</a:t>
            </a:r>
            <a:r>
              <a:rPr lang="en-IN" sz="7431">
                <a:latin typeface="Arial"/>
                <a:ea typeface="Arial"/>
                <a:cs typeface="Arial"/>
                <a:sym typeface="Arial"/>
              </a:rPr>
              <a:t> compared to weekends</a:t>
            </a:r>
            <a:endParaRPr sz="7431">
              <a:latin typeface="Arial"/>
              <a:ea typeface="Arial"/>
              <a:cs typeface="Arial"/>
              <a:sym typeface="Arial"/>
            </a:endParaRPr>
          </a:p>
          <a:p>
            <a:pPr indent="-346563" lvl="0" marL="457200" rtl="0" algn="l">
              <a:lnSpc>
                <a:spcPct val="115000"/>
              </a:lnSpc>
              <a:spcBef>
                <a:spcPts val="0"/>
              </a:spcBef>
              <a:spcAft>
                <a:spcPts val="0"/>
              </a:spcAft>
              <a:buSzPct val="100000"/>
              <a:buChar char="●"/>
            </a:pPr>
            <a:r>
              <a:rPr lang="en-IN" sz="7431">
                <a:latin typeface="Arial"/>
                <a:ea typeface="Arial"/>
                <a:cs typeface="Arial"/>
                <a:sym typeface="Arial"/>
              </a:rPr>
              <a:t>The top 3 months contributing the </a:t>
            </a:r>
            <a:r>
              <a:rPr b="1" lang="en-IN" sz="7431">
                <a:latin typeface="Arial"/>
                <a:ea typeface="Arial"/>
                <a:cs typeface="Arial"/>
                <a:sym typeface="Arial"/>
              </a:rPr>
              <a:t>highest revenue</a:t>
            </a:r>
            <a:r>
              <a:rPr lang="en-IN" sz="7431">
                <a:latin typeface="Arial"/>
                <a:ea typeface="Arial"/>
                <a:cs typeface="Arial"/>
                <a:sym typeface="Arial"/>
              </a:rPr>
              <a:t> were:</a:t>
            </a:r>
            <a:endParaRPr sz="7431">
              <a:latin typeface="Arial"/>
              <a:ea typeface="Arial"/>
              <a:cs typeface="Arial"/>
              <a:sym typeface="Arial"/>
            </a:endParaRPr>
          </a:p>
          <a:p>
            <a:pPr indent="-346563" lvl="1" marL="914400" rtl="0" algn="l">
              <a:lnSpc>
                <a:spcPct val="115000"/>
              </a:lnSpc>
              <a:spcBef>
                <a:spcPts val="0"/>
              </a:spcBef>
              <a:spcAft>
                <a:spcPts val="0"/>
              </a:spcAft>
              <a:buSzPct val="100000"/>
              <a:buChar char="○"/>
            </a:pPr>
            <a:r>
              <a:rPr b="1" lang="en-IN" sz="7431">
                <a:latin typeface="Arial"/>
                <a:ea typeface="Arial"/>
                <a:cs typeface="Arial"/>
                <a:sym typeface="Arial"/>
              </a:rPr>
              <a:t>January 2022</a:t>
            </a:r>
            <a:endParaRPr b="1" sz="7431">
              <a:latin typeface="Arial"/>
              <a:ea typeface="Arial"/>
              <a:cs typeface="Arial"/>
              <a:sym typeface="Arial"/>
            </a:endParaRPr>
          </a:p>
          <a:p>
            <a:pPr indent="-346563" lvl="1" marL="914400" rtl="0" algn="l">
              <a:lnSpc>
                <a:spcPct val="115000"/>
              </a:lnSpc>
              <a:spcBef>
                <a:spcPts val="0"/>
              </a:spcBef>
              <a:spcAft>
                <a:spcPts val="0"/>
              </a:spcAft>
              <a:buSzPct val="100000"/>
              <a:buChar char="○"/>
            </a:pPr>
            <a:r>
              <a:rPr b="1" lang="en-IN" sz="7431">
                <a:latin typeface="Arial"/>
                <a:ea typeface="Arial"/>
                <a:cs typeface="Arial"/>
                <a:sym typeface="Arial"/>
              </a:rPr>
              <a:t>February 2022</a:t>
            </a:r>
            <a:endParaRPr b="1" sz="7431">
              <a:latin typeface="Arial"/>
              <a:ea typeface="Arial"/>
              <a:cs typeface="Arial"/>
              <a:sym typeface="Arial"/>
            </a:endParaRPr>
          </a:p>
          <a:p>
            <a:pPr indent="-346563" lvl="1" marL="914400" rtl="0" algn="l">
              <a:lnSpc>
                <a:spcPct val="115000"/>
              </a:lnSpc>
              <a:spcBef>
                <a:spcPts val="0"/>
              </a:spcBef>
              <a:spcAft>
                <a:spcPts val="0"/>
              </a:spcAft>
              <a:buSzPct val="100000"/>
              <a:buChar char="○"/>
            </a:pPr>
            <a:r>
              <a:rPr b="1" lang="en-IN" sz="7431">
                <a:latin typeface="Arial"/>
                <a:ea typeface="Arial"/>
                <a:cs typeface="Arial"/>
                <a:sym typeface="Arial"/>
              </a:rPr>
              <a:t>December 2022</a:t>
            </a:r>
            <a:endParaRPr b="1" sz="7431">
              <a:latin typeface="Arial"/>
              <a:ea typeface="Arial"/>
              <a:cs typeface="Arial"/>
              <a:sym typeface="Arial"/>
            </a:endParaRPr>
          </a:p>
          <a:p>
            <a:pPr indent="0" lvl="0" marL="0" rtl="0" algn="l">
              <a:lnSpc>
                <a:spcPct val="115000"/>
              </a:lnSpc>
              <a:spcBef>
                <a:spcPts val="1200"/>
              </a:spcBef>
              <a:spcAft>
                <a:spcPts val="0"/>
              </a:spcAft>
              <a:buNone/>
            </a:pPr>
            <a:r>
              <a:t/>
            </a:r>
            <a:endParaRPr b="1" sz="7431">
              <a:latin typeface="Arial"/>
              <a:ea typeface="Arial"/>
              <a:cs typeface="Arial"/>
              <a:sym typeface="Arial"/>
            </a:endParaRPr>
          </a:p>
          <a:p>
            <a:pPr indent="-346563" lvl="0" marL="457200" rtl="0" algn="l">
              <a:lnSpc>
                <a:spcPct val="115000"/>
              </a:lnSpc>
              <a:spcBef>
                <a:spcPts val="1200"/>
              </a:spcBef>
              <a:spcAft>
                <a:spcPts val="0"/>
              </a:spcAft>
              <a:buSzPct val="100000"/>
              <a:buFont typeface="Arial"/>
              <a:buChar char="•"/>
            </a:pPr>
            <a:r>
              <a:rPr lang="en-IN" sz="7431">
                <a:latin typeface="Arial"/>
                <a:ea typeface="Arial"/>
                <a:cs typeface="Arial"/>
                <a:sym typeface="Arial"/>
              </a:rPr>
              <a:t>April,June and october are the months were lowest revenue were generated.</a:t>
            </a:r>
            <a:endParaRPr sz="7431">
              <a:latin typeface="Arial"/>
              <a:ea typeface="Arial"/>
              <a:cs typeface="Arial"/>
              <a:sym typeface="Arial"/>
            </a:endParaRPr>
          </a:p>
          <a:p>
            <a:pPr indent="0" lvl="0" marL="457200" rtl="0" algn="l">
              <a:spcBef>
                <a:spcPts val="1200"/>
              </a:spcBef>
              <a:spcAft>
                <a:spcPts val="0"/>
              </a:spcAft>
              <a:buNone/>
            </a:pPr>
            <a:r>
              <a:t/>
            </a:r>
            <a:endParaRPr b="1">
              <a:latin typeface="Arial"/>
              <a:ea typeface="Arial"/>
              <a:cs typeface="Arial"/>
              <a:sym typeface="Arial"/>
            </a:endParaRPr>
          </a:p>
          <a:p>
            <a:pPr indent="0" lvl="0" marL="457200" rtl="0" algn="l">
              <a:spcBef>
                <a:spcPts val="1000"/>
              </a:spcBef>
              <a:spcAft>
                <a:spcPts val="0"/>
              </a:spcAft>
              <a:buNone/>
            </a:pPr>
            <a:r>
              <a:t/>
            </a:r>
            <a:endParaRPr b="1">
              <a:latin typeface="Arial"/>
              <a:ea typeface="Arial"/>
              <a:cs typeface="Arial"/>
              <a:sym typeface="Arial"/>
            </a:endParaRPr>
          </a:p>
          <a:p>
            <a:pPr indent="0" lvl="0" marL="457200" rtl="0" algn="l">
              <a:spcBef>
                <a:spcPts val="1000"/>
              </a:spcBef>
              <a:spcAft>
                <a:spcPts val="0"/>
              </a:spcAft>
              <a:buNone/>
            </a:pPr>
            <a:r>
              <a:t/>
            </a:r>
            <a:endParaRPr b="1" sz="1100">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g3d6716f47d0_0_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Employee Performance</a:t>
            </a:r>
            <a:endParaRPr b="1">
              <a:solidFill>
                <a:srgbClr val="FF0000"/>
              </a:solidFill>
            </a:endParaRPr>
          </a:p>
        </p:txBody>
      </p:sp>
      <p:sp>
        <p:nvSpPr>
          <p:cNvPr id="132" name="Google Shape;132;g3d6716f47d0_0_18"/>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10000"/>
          </a:bodyPr>
          <a:lstStyle/>
          <a:p>
            <a:pPr indent="-381000" lvl="0" marL="457200" rtl="0" algn="l">
              <a:lnSpc>
                <a:spcPct val="115000"/>
              </a:lnSpc>
              <a:spcBef>
                <a:spcPts val="1200"/>
              </a:spcBef>
              <a:spcAft>
                <a:spcPts val="0"/>
              </a:spcAft>
              <a:buSzPts val="2400"/>
              <a:buFont typeface="Arial"/>
              <a:buChar char="●"/>
            </a:pPr>
            <a:r>
              <a:rPr lang="en-IN" sz="2400">
                <a:latin typeface="Arial"/>
                <a:ea typeface="Arial"/>
                <a:cs typeface="Arial"/>
                <a:sym typeface="Arial"/>
              </a:rPr>
              <a:t>The organization has a total of </a:t>
            </a:r>
            <a:r>
              <a:rPr b="1" lang="en-IN" sz="2400">
                <a:latin typeface="Arial"/>
                <a:ea typeface="Arial"/>
                <a:cs typeface="Arial"/>
                <a:sym typeface="Arial"/>
              </a:rPr>
              <a:t>12 employees</a:t>
            </a:r>
            <a:endParaRPr b="1" sz="2400">
              <a:latin typeface="Arial"/>
              <a:ea typeface="Arial"/>
              <a:cs typeface="Arial"/>
              <a:sym typeface="Arial"/>
            </a:endParaRPr>
          </a:p>
          <a:p>
            <a:pPr indent="-381000" lvl="0" marL="457200" rtl="0" algn="l">
              <a:lnSpc>
                <a:spcPct val="115000"/>
              </a:lnSpc>
              <a:spcBef>
                <a:spcPts val="0"/>
              </a:spcBef>
              <a:spcAft>
                <a:spcPts val="0"/>
              </a:spcAft>
              <a:buSzPts val="2400"/>
              <a:buChar char="●"/>
            </a:pPr>
            <a:r>
              <a:rPr b="1" lang="en-IN" sz="2400">
                <a:latin typeface="Arial"/>
                <a:ea typeface="Arial"/>
                <a:cs typeface="Arial"/>
                <a:sym typeface="Arial"/>
              </a:rPr>
              <a:t>Top employees by order volume</a:t>
            </a:r>
            <a:r>
              <a:rPr lang="en-IN" sz="2400">
                <a:latin typeface="Arial"/>
                <a:ea typeface="Arial"/>
                <a:cs typeface="Arial"/>
                <a:sym typeface="Arial"/>
              </a:rPr>
              <a:t>:</a:t>
            </a:r>
            <a:endParaRPr sz="2400">
              <a:latin typeface="Arial"/>
              <a:ea typeface="Arial"/>
              <a:cs typeface="Arial"/>
              <a:sym typeface="Arial"/>
            </a:endParaRPr>
          </a:p>
          <a:p>
            <a:pPr indent="-381000" lvl="1" marL="914400" rtl="0" algn="l">
              <a:lnSpc>
                <a:spcPct val="115000"/>
              </a:lnSpc>
              <a:spcBef>
                <a:spcPts val="0"/>
              </a:spcBef>
              <a:spcAft>
                <a:spcPts val="0"/>
              </a:spcAft>
              <a:buSzPts val="2400"/>
              <a:buChar char="○"/>
            </a:pPr>
            <a:r>
              <a:rPr lang="en-IN">
                <a:latin typeface="Arial"/>
                <a:ea typeface="Arial"/>
                <a:cs typeface="Arial"/>
                <a:sym typeface="Arial"/>
              </a:rPr>
              <a:t>Divya Sharma</a:t>
            </a:r>
            <a:endParaRPr>
              <a:latin typeface="Arial"/>
              <a:ea typeface="Arial"/>
              <a:cs typeface="Arial"/>
              <a:sym typeface="Arial"/>
            </a:endParaRPr>
          </a:p>
          <a:p>
            <a:pPr indent="-381000" lvl="1" marL="914400" rtl="0" algn="l">
              <a:lnSpc>
                <a:spcPct val="115000"/>
              </a:lnSpc>
              <a:spcBef>
                <a:spcPts val="0"/>
              </a:spcBef>
              <a:spcAft>
                <a:spcPts val="0"/>
              </a:spcAft>
              <a:buSzPts val="2400"/>
              <a:buChar char="○"/>
            </a:pPr>
            <a:r>
              <a:rPr lang="en-IN">
                <a:latin typeface="Arial"/>
                <a:ea typeface="Arial"/>
                <a:cs typeface="Arial"/>
                <a:sym typeface="Arial"/>
              </a:rPr>
              <a:t>Aditya Singh</a:t>
            </a:r>
            <a:endParaRPr>
              <a:latin typeface="Arial"/>
              <a:ea typeface="Arial"/>
              <a:cs typeface="Arial"/>
              <a:sym typeface="Arial"/>
            </a:endParaRPr>
          </a:p>
          <a:p>
            <a:pPr indent="-381000" lvl="1" marL="914400" rtl="0" algn="l">
              <a:lnSpc>
                <a:spcPct val="115000"/>
              </a:lnSpc>
              <a:spcBef>
                <a:spcPts val="0"/>
              </a:spcBef>
              <a:spcAft>
                <a:spcPts val="0"/>
              </a:spcAft>
              <a:buSzPts val="2400"/>
              <a:buChar char="○"/>
            </a:pPr>
            <a:r>
              <a:rPr lang="en-IN">
                <a:latin typeface="Arial"/>
                <a:ea typeface="Arial"/>
                <a:cs typeface="Arial"/>
                <a:sym typeface="Arial"/>
              </a:rPr>
              <a:t>Arjun Kumar</a:t>
            </a:r>
            <a:endParaRPr>
              <a:latin typeface="Arial"/>
              <a:ea typeface="Arial"/>
              <a:cs typeface="Arial"/>
              <a:sym typeface="Arial"/>
            </a:endParaRPr>
          </a:p>
          <a:p>
            <a:pPr indent="-381000" lvl="0" marL="457200" rtl="0" algn="l">
              <a:lnSpc>
                <a:spcPct val="115000"/>
              </a:lnSpc>
              <a:spcBef>
                <a:spcPts val="0"/>
              </a:spcBef>
              <a:spcAft>
                <a:spcPts val="0"/>
              </a:spcAft>
              <a:buSzPts val="2400"/>
              <a:buChar char="●"/>
            </a:pPr>
            <a:r>
              <a:rPr b="1" lang="en-IN" sz="2400">
                <a:latin typeface="Arial"/>
                <a:ea typeface="Arial"/>
                <a:cs typeface="Arial"/>
                <a:sym typeface="Arial"/>
              </a:rPr>
              <a:t>Top employee by sales value</a:t>
            </a:r>
            <a:r>
              <a:rPr lang="en-IN" sz="2400">
                <a:latin typeface="Arial"/>
                <a:ea typeface="Arial"/>
                <a:cs typeface="Arial"/>
                <a:sym typeface="Arial"/>
              </a:rPr>
              <a:t>:</a:t>
            </a:r>
            <a:endParaRPr sz="2400">
              <a:latin typeface="Arial"/>
              <a:ea typeface="Arial"/>
              <a:cs typeface="Arial"/>
              <a:sym typeface="Arial"/>
            </a:endParaRPr>
          </a:p>
          <a:p>
            <a:pPr indent="-381000" lvl="1" marL="914400" rtl="0" algn="l">
              <a:lnSpc>
                <a:spcPct val="115000"/>
              </a:lnSpc>
              <a:spcBef>
                <a:spcPts val="0"/>
              </a:spcBef>
              <a:spcAft>
                <a:spcPts val="0"/>
              </a:spcAft>
              <a:buSzPts val="2400"/>
              <a:buChar char="○"/>
            </a:pPr>
            <a:r>
              <a:rPr lang="en-IN">
                <a:latin typeface="Arial"/>
                <a:ea typeface="Arial"/>
                <a:cs typeface="Arial"/>
                <a:sym typeface="Arial"/>
              </a:rPr>
              <a:t>Aarav Kumar generated the </a:t>
            </a:r>
            <a:r>
              <a:rPr b="1" lang="en-IN">
                <a:latin typeface="Arial"/>
                <a:ea typeface="Arial"/>
                <a:cs typeface="Arial"/>
                <a:sym typeface="Arial"/>
              </a:rPr>
              <a:t>highest total revenue</a:t>
            </a:r>
            <a:endParaRPr b="1">
              <a:latin typeface="Arial"/>
              <a:ea typeface="Arial"/>
              <a:cs typeface="Arial"/>
              <a:sym typeface="Arial"/>
            </a:endParaRPr>
          </a:p>
          <a:p>
            <a:pPr indent="-381000" lvl="0" marL="457200" rtl="0" algn="l">
              <a:lnSpc>
                <a:spcPct val="115000"/>
              </a:lnSpc>
              <a:spcBef>
                <a:spcPts val="0"/>
              </a:spcBef>
              <a:spcAft>
                <a:spcPts val="0"/>
              </a:spcAft>
              <a:buSzPts val="2400"/>
              <a:buChar char="●"/>
            </a:pPr>
            <a:r>
              <a:rPr lang="en-IN" sz="2400">
                <a:latin typeface="Arial"/>
                <a:ea typeface="Arial"/>
                <a:cs typeface="Arial"/>
                <a:sym typeface="Arial"/>
              </a:rPr>
              <a:t>The </a:t>
            </a:r>
            <a:r>
              <a:rPr b="1" lang="en-IN" sz="2400">
                <a:latin typeface="Arial"/>
                <a:ea typeface="Arial"/>
                <a:cs typeface="Arial"/>
                <a:sym typeface="Arial"/>
              </a:rPr>
              <a:t>average order value handled per employee</a:t>
            </a:r>
            <a:r>
              <a:rPr lang="en-IN" sz="2400">
                <a:latin typeface="Arial"/>
                <a:ea typeface="Arial"/>
                <a:cs typeface="Arial"/>
                <a:sym typeface="Arial"/>
              </a:rPr>
              <a:t> ranges between</a:t>
            </a:r>
            <a:br>
              <a:rPr lang="en-IN" sz="2400">
                <a:latin typeface="Arial"/>
                <a:ea typeface="Arial"/>
                <a:cs typeface="Arial"/>
                <a:sym typeface="Arial"/>
              </a:rPr>
            </a:br>
            <a:r>
              <a:rPr lang="en-IN" sz="2400">
                <a:latin typeface="Arial"/>
                <a:ea typeface="Arial"/>
                <a:cs typeface="Arial"/>
                <a:sym typeface="Arial"/>
              </a:rPr>
              <a:t> </a:t>
            </a:r>
            <a:r>
              <a:rPr b="1" lang="en-IN" sz="2400">
                <a:latin typeface="Arial"/>
                <a:ea typeface="Arial"/>
                <a:cs typeface="Arial"/>
                <a:sym typeface="Arial"/>
              </a:rPr>
              <a:t>₹1,554 to ₹2,768</a:t>
            </a:r>
            <a:endParaRPr b="1" sz="24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3d6716f47d0_0_24"/>
          <p:cNvSpPr txBox="1"/>
          <p:nvPr>
            <p:ph type="title"/>
          </p:nvPr>
        </p:nvSpPr>
        <p:spPr>
          <a:xfrm>
            <a:off x="838200" y="138300"/>
            <a:ext cx="10515600" cy="9273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Supplier Analysis</a:t>
            </a:r>
            <a:endParaRPr b="1">
              <a:solidFill>
                <a:srgbClr val="FF0000"/>
              </a:solidFill>
            </a:endParaRPr>
          </a:p>
        </p:txBody>
      </p:sp>
      <p:sp>
        <p:nvSpPr>
          <p:cNvPr id="139" name="Google Shape;139;g3d6716f47d0_0_24"/>
          <p:cNvSpPr txBox="1"/>
          <p:nvPr>
            <p:ph idx="1" type="body"/>
          </p:nvPr>
        </p:nvSpPr>
        <p:spPr>
          <a:xfrm>
            <a:off x="838200" y="1065600"/>
            <a:ext cx="10515600" cy="5111100"/>
          </a:xfrm>
          <a:prstGeom prst="rect">
            <a:avLst/>
          </a:prstGeom>
        </p:spPr>
        <p:txBody>
          <a:bodyPr anchorCtr="0" anchor="t" bIns="45700" lIns="91425" spcFirstLastPara="1" rIns="91425" wrap="square" tIns="45700">
            <a:noAutofit/>
          </a:bodyPr>
          <a:lstStyle/>
          <a:p>
            <a:pPr indent="-387350" lvl="0" marL="457200" rtl="0" algn="l">
              <a:lnSpc>
                <a:spcPct val="115000"/>
              </a:lnSpc>
              <a:spcBef>
                <a:spcPts val="1200"/>
              </a:spcBef>
              <a:spcAft>
                <a:spcPts val="0"/>
              </a:spcAft>
              <a:buSzPts val="2500"/>
              <a:buChar char="●"/>
            </a:pPr>
            <a:r>
              <a:rPr lang="en-IN" sz="2500">
                <a:latin typeface="Arial"/>
                <a:ea typeface="Arial"/>
                <a:cs typeface="Arial"/>
                <a:sym typeface="Arial"/>
              </a:rPr>
              <a:t> The business works with a total of </a:t>
            </a:r>
            <a:r>
              <a:rPr b="1" lang="en-IN" sz="2500">
                <a:latin typeface="Arial"/>
                <a:ea typeface="Arial"/>
                <a:cs typeface="Arial"/>
                <a:sym typeface="Arial"/>
              </a:rPr>
              <a:t>5 suppliers</a:t>
            </a:r>
            <a:endParaRPr b="1"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Top revenue-contributing supplier</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Aary</a:t>
            </a:r>
            <a:r>
              <a:rPr i="1" lang="en-IN" sz="2500">
                <a:latin typeface="Arial"/>
                <a:ea typeface="Arial"/>
                <a:cs typeface="Arial"/>
                <a:sym typeface="Arial"/>
              </a:rPr>
              <a:t>a(supplier)</a:t>
            </a:r>
            <a:r>
              <a:rPr lang="en-IN" sz="2500">
                <a:latin typeface="Arial"/>
                <a:ea typeface="Arial"/>
                <a:cs typeface="Arial"/>
                <a:sym typeface="Arial"/>
              </a:rPr>
              <a:t> generated the </a:t>
            </a:r>
            <a:r>
              <a:rPr b="1" lang="en-IN" sz="2500">
                <a:latin typeface="Arial"/>
                <a:ea typeface="Arial"/>
                <a:cs typeface="Arial"/>
                <a:sym typeface="Arial"/>
              </a:rPr>
              <a:t>highest total sales revenue, </a:t>
            </a:r>
            <a:r>
              <a:rPr lang="en-IN" sz="2500">
                <a:latin typeface="Arial"/>
                <a:ea typeface="Arial"/>
                <a:cs typeface="Arial"/>
                <a:sym typeface="Arial"/>
              </a:rPr>
              <a:t>playing critical role in revenue generation.</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Lowest pricing supplier</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Aarav Sharma (Madhya Pradesh)</a:t>
            </a:r>
            <a:r>
              <a:rPr lang="en-IN" sz="2500">
                <a:latin typeface="Arial"/>
                <a:ea typeface="Arial"/>
                <a:cs typeface="Arial"/>
                <a:sym typeface="Arial"/>
              </a:rPr>
              <a:t> offers products at the </a:t>
            </a:r>
            <a:r>
              <a:rPr b="1" lang="en-IN" sz="2500">
                <a:latin typeface="Arial"/>
                <a:ea typeface="Arial"/>
                <a:cs typeface="Arial"/>
                <a:sym typeface="Arial"/>
              </a:rPr>
              <a:t>lowest average price, </a:t>
            </a:r>
            <a:r>
              <a:rPr lang="en-IN" sz="2500">
                <a:latin typeface="Arial"/>
                <a:ea typeface="Arial"/>
                <a:cs typeface="Arial"/>
                <a:sym typeface="Arial"/>
              </a:rPr>
              <a:t>indicating budget friendly suppliers.</a:t>
            </a:r>
            <a:endParaRPr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Highest pricing supplier</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Karthik (West Bengal)</a:t>
            </a:r>
            <a:r>
              <a:rPr lang="en-IN" sz="2500">
                <a:latin typeface="Arial"/>
                <a:ea typeface="Arial"/>
                <a:cs typeface="Arial"/>
                <a:sym typeface="Arial"/>
              </a:rPr>
              <a:t> provides products at the </a:t>
            </a:r>
            <a:r>
              <a:rPr b="1" lang="en-IN" sz="2500">
                <a:latin typeface="Arial"/>
                <a:ea typeface="Arial"/>
                <a:cs typeface="Arial"/>
                <a:sym typeface="Arial"/>
              </a:rPr>
              <a:t>highest average price, indicating premium supplier.</a:t>
            </a:r>
            <a:endParaRPr b="1" sz="2500">
              <a:latin typeface="Arial"/>
              <a:ea typeface="Arial"/>
              <a:cs typeface="Arial"/>
              <a:sym typeface="Arial"/>
            </a:endParaRPr>
          </a:p>
          <a:p>
            <a:pPr indent="0" lvl="0" marL="914400" rtl="0" algn="l">
              <a:lnSpc>
                <a:spcPct val="115000"/>
              </a:lnSpc>
              <a:spcBef>
                <a:spcPts val="1200"/>
              </a:spcBef>
              <a:spcAft>
                <a:spcPts val="0"/>
              </a:spcAft>
              <a:buNone/>
            </a:pPr>
            <a:r>
              <a:t/>
            </a:r>
            <a:endParaRPr b="1" sz="2500">
              <a:latin typeface="Arial"/>
              <a:ea typeface="Arial"/>
              <a:cs typeface="Arial"/>
              <a:sym typeface="Arial"/>
            </a:endParaRPr>
          </a:p>
          <a:p>
            <a:pPr indent="0" lvl="0" marL="914400" rtl="0" algn="l">
              <a:lnSpc>
                <a:spcPct val="115000"/>
              </a:lnSpc>
              <a:spcBef>
                <a:spcPts val="1200"/>
              </a:spcBef>
              <a:spcAft>
                <a:spcPts val="0"/>
              </a:spcAft>
              <a:buNone/>
            </a:pPr>
            <a:r>
              <a:t/>
            </a:r>
            <a:endParaRPr b="1" sz="25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d6716f47d0_0_3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Product &amp; Category Insights</a:t>
            </a:r>
            <a:endParaRPr b="1">
              <a:solidFill>
                <a:srgbClr val="FF0000"/>
              </a:solidFill>
            </a:endParaRPr>
          </a:p>
        </p:txBody>
      </p:sp>
      <p:sp>
        <p:nvSpPr>
          <p:cNvPr id="146" name="Google Shape;146;g3d6716f47d0_0_30"/>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IN" sz="2100">
                <a:solidFill>
                  <a:srgbClr val="0000FF"/>
                </a:solidFill>
                <a:latin typeface="Arial"/>
                <a:ea typeface="Arial"/>
                <a:cs typeface="Arial"/>
                <a:sym typeface="Arial"/>
              </a:rPr>
              <a:t>Category-wise Product &amp; Revenue Analysis</a:t>
            </a:r>
            <a:endParaRPr b="1" sz="2100">
              <a:solidFill>
                <a:srgbClr val="0000FF"/>
              </a:solidFill>
              <a:latin typeface="Arial"/>
              <a:ea typeface="Arial"/>
              <a:cs typeface="Arial"/>
              <a:sym typeface="Arial"/>
            </a:endParaRPr>
          </a:p>
          <a:p>
            <a:pPr indent="-368300" lvl="0" marL="457200" rtl="0" algn="l">
              <a:lnSpc>
                <a:spcPct val="115000"/>
              </a:lnSpc>
              <a:spcBef>
                <a:spcPts val="1200"/>
              </a:spcBef>
              <a:spcAft>
                <a:spcPts val="0"/>
              </a:spcAft>
              <a:buSzPts val="2200"/>
              <a:buChar char="●"/>
            </a:pPr>
            <a:r>
              <a:rPr lang="en-IN" sz="2200">
                <a:latin typeface="Arial"/>
                <a:ea typeface="Arial"/>
                <a:cs typeface="Arial"/>
                <a:sym typeface="Arial"/>
              </a:rPr>
              <a:t>The dataset consists of </a:t>
            </a:r>
            <a:r>
              <a:rPr b="1" lang="en-IN" sz="2200">
                <a:latin typeface="Arial"/>
                <a:ea typeface="Arial"/>
                <a:cs typeface="Arial"/>
                <a:sym typeface="Arial"/>
              </a:rPr>
              <a:t>5 product categories</a:t>
            </a:r>
            <a:r>
              <a:rPr lang="en-IN" sz="2200">
                <a:latin typeface="Arial"/>
                <a:ea typeface="Arial"/>
                <a:cs typeface="Arial"/>
                <a:sym typeface="Arial"/>
              </a:rPr>
              <a:t>:</a:t>
            </a:r>
            <a:endParaRPr sz="2200">
              <a:latin typeface="Arial"/>
              <a:ea typeface="Arial"/>
              <a:cs typeface="Arial"/>
              <a:sym typeface="Arial"/>
            </a:endParaRPr>
          </a:p>
          <a:p>
            <a:pPr indent="-368300" lvl="1" marL="914400" rtl="0" algn="l">
              <a:lnSpc>
                <a:spcPct val="115000"/>
              </a:lnSpc>
              <a:spcBef>
                <a:spcPts val="0"/>
              </a:spcBef>
              <a:spcAft>
                <a:spcPts val="0"/>
              </a:spcAft>
              <a:buSzPts val="2200"/>
              <a:buChar char="○"/>
            </a:pPr>
            <a:r>
              <a:rPr b="1" lang="en-IN" sz="2200">
                <a:latin typeface="Arial"/>
                <a:ea typeface="Arial"/>
                <a:cs typeface="Arial"/>
                <a:sym typeface="Arial"/>
              </a:rPr>
              <a:t>Grains &amp; Cereals</a:t>
            </a:r>
            <a:r>
              <a:rPr lang="en-IN" sz="2200">
                <a:latin typeface="Arial"/>
                <a:ea typeface="Arial"/>
                <a:cs typeface="Arial"/>
                <a:sym typeface="Arial"/>
              </a:rPr>
              <a:t> – 18 products</a:t>
            </a:r>
            <a:endParaRPr sz="2200">
              <a:latin typeface="Arial"/>
              <a:ea typeface="Arial"/>
              <a:cs typeface="Arial"/>
              <a:sym typeface="Arial"/>
            </a:endParaRPr>
          </a:p>
          <a:p>
            <a:pPr indent="-368300" lvl="1" marL="914400" rtl="0" algn="l">
              <a:lnSpc>
                <a:spcPct val="115000"/>
              </a:lnSpc>
              <a:spcBef>
                <a:spcPts val="0"/>
              </a:spcBef>
              <a:spcAft>
                <a:spcPts val="0"/>
              </a:spcAft>
              <a:buSzPts val="2200"/>
              <a:buChar char="○"/>
            </a:pPr>
            <a:r>
              <a:rPr b="1" lang="en-IN" sz="2200">
                <a:latin typeface="Arial"/>
                <a:ea typeface="Arial"/>
                <a:cs typeface="Arial"/>
                <a:sym typeface="Arial"/>
              </a:rPr>
              <a:t>Dairy Products</a:t>
            </a:r>
            <a:r>
              <a:rPr lang="en-IN" sz="2200">
                <a:latin typeface="Arial"/>
                <a:ea typeface="Arial"/>
                <a:cs typeface="Arial"/>
                <a:sym typeface="Arial"/>
              </a:rPr>
              <a:t> – 6 products</a:t>
            </a:r>
            <a:endParaRPr sz="2200">
              <a:latin typeface="Arial"/>
              <a:ea typeface="Arial"/>
              <a:cs typeface="Arial"/>
              <a:sym typeface="Arial"/>
            </a:endParaRPr>
          </a:p>
          <a:p>
            <a:pPr indent="-368300" lvl="1" marL="914400" rtl="0" algn="l">
              <a:lnSpc>
                <a:spcPct val="115000"/>
              </a:lnSpc>
              <a:spcBef>
                <a:spcPts val="0"/>
              </a:spcBef>
              <a:spcAft>
                <a:spcPts val="0"/>
              </a:spcAft>
              <a:buSzPts val="2200"/>
              <a:buChar char="○"/>
            </a:pPr>
            <a:r>
              <a:rPr b="1" lang="en-IN" sz="2200">
                <a:latin typeface="Arial"/>
                <a:ea typeface="Arial"/>
                <a:cs typeface="Arial"/>
                <a:sym typeface="Arial"/>
              </a:rPr>
              <a:t>Snacks &amp; Confectioneries</a:t>
            </a:r>
            <a:r>
              <a:rPr lang="en-IN" sz="2200">
                <a:latin typeface="Arial"/>
                <a:ea typeface="Arial"/>
                <a:cs typeface="Arial"/>
                <a:sym typeface="Arial"/>
              </a:rPr>
              <a:t> – 17 products</a:t>
            </a:r>
            <a:endParaRPr sz="2200">
              <a:latin typeface="Arial"/>
              <a:ea typeface="Arial"/>
              <a:cs typeface="Arial"/>
              <a:sym typeface="Arial"/>
            </a:endParaRPr>
          </a:p>
          <a:p>
            <a:pPr indent="-368300" lvl="1" marL="914400" rtl="0" algn="l">
              <a:lnSpc>
                <a:spcPct val="115000"/>
              </a:lnSpc>
              <a:spcBef>
                <a:spcPts val="0"/>
              </a:spcBef>
              <a:spcAft>
                <a:spcPts val="0"/>
              </a:spcAft>
              <a:buSzPts val="2200"/>
              <a:buChar char="○"/>
            </a:pPr>
            <a:r>
              <a:rPr b="1" lang="en-IN" sz="2200">
                <a:latin typeface="Arial"/>
                <a:ea typeface="Arial"/>
                <a:cs typeface="Arial"/>
                <a:sym typeface="Arial"/>
              </a:rPr>
              <a:t>Personal Care</a:t>
            </a:r>
            <a:r>
              <a:rPr lang="en-IN" sz="2200">
                <a:latin typeface="Arial"/>
                <a:ea typeface="Arial"/>
                <a:cs typeface="Arial"/>
                <a:sym typeface="Arial"/>
              </a:rPr>
              <a:t> – 6 products</a:t>
            </a:r>
            <a:endParaRPr sz="2200">
              <a:latin typeface="Arial"/>
              <a:ea typeface="Arial"/>
              <a:cs typeface="Arial"/>
              <a:sym typeface="Arial"/>
            </a:endParaRPr>
          </a:p>
          <a:p>
            <a:pPr indent="-368300" lvl="1" marL="914400" rtl="0" algn="l">
              <a:lnSpc>
                <a:spcPct val="115000"/>
              </a:lnSpc>
              <a:spcBef>
                <a:spcPts val="0"/>
              </a:spcBef>
              <a:spcAft>
                <a:spcPts val="0"/>
              </a:spcAft>
              <a:buSzPts val="2200"/>
              <a:buChar char="○"/>
            </a:pPr>
            <a:r>
              <a:rPr b="1" lang="en-IN" sz="2200">
                <a:latin typeface="Arial"/>
                <a:ea typeface="Arial"/>
                <a:cs typeface="Arial"/>
                <a:sym typeface="Arial"/>
              </a:rPr>
              <a:t>Household</a:t>
            </a:r>
            <a:r>
              <a:rPr lang="en-IN" sz="2200">
                <a:latin typeface="Arial"/>
                <a:ea typeface="Arial"/>
                <a:cs typeface="Arial"/>
                <a:sym typeface="Arial"/>
              </a:rPr>
              <a:t> – 3 products</a:t>
            </a:r>
            <a:endParaRPr sz="2200">
              <a:latin typeface="Arial"/>
              <a:ea typeface="Arial"/>
              <a:cs typeface="Arial"/>
              <a:sym typeface="Arial"/>
            </a:endParaRPr>
          </a:p>
          <a:p>
            <a:pPr indent="-368300" lvl="0" marL="457200" rtl="0" algn="l">
              <a:lnSpc>
                <a:spcPct val="115000"/>
              </a:lnSpc>
              <a:spcBef>
                <a:spcPts val="0"/>
              </a:spcBef>
              <a:spcAft>
                <a:spcPts val="0"/>
              </a:spcAft>
              <a:buSzPts val="2200"/>
              <a:buChar char="●"/>
            </a:pPr>
            <a:r>
              <a:rPr lang="en-IN" sz="2200">
                <a:latin typeface="Arial"/>
                <a:ea typeface="Arial"/>
                <a:cs typeface="Arial"/>
                <a:sym typeface="Arial"/>
              </a:rPr>
              <a:t>The </a:t>
            </a:r>
            <a:r>
              <a:rPr b="1" lang="en-IN" sz="2200">
                <a:latin typeface="Arial"/>
                <a:ea typeface="Arial"/>
                <a:cs typeface="Arial"/>
                <a:sym typeface="Arial"/>
              </a:rPr>
              <a:t>average price across categories</a:t>
            </a:r>
            <a:r>
              <a:rPr lang="en-IN" sz="2200">
                <a:latin typeface="Arial"/>
                <a:ea typeface="Arial"/>
                <a:cs typeface="Arial"/>
                <a:sym typeface="Arial"/>
              </a:rPr>
              <a:t> ranges from </a:t>
            </a:r>
            <a:r>
              <a:rPr b="1" lang="en-IN" sz="2200">
                <a:latin typeface="Arial"/>
                <a:ea typeface="Arial"/>
                <a:cs typeface="Arial"/>
                <a:sym typeface="Arial"/>
              </a:rPr>
              <a:t>₹278 to ₹366</a:t>
            </a:r>
            <a:r>
              <a:rPr lang="en-IN" sz="2200">
                <a:latin typeface="Arial"/>
                <a:ea typeface="Arial"/>
                <a:cs typeface="Arial"/>
                <a:sym typeface="Arial"/>
              </a:rPr>
              <a:t>, indicating moderate pricing variation across product types.</a:t>
            </a:r>
            <a:endParaRPr sz="22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 name="Shape 151"/>
        <p:cNvGrpSpPr/>
        <p:nvPr/>
      </p:nvGrpSpPr>
      <p:grpSpPr>
        <a:xfrm>
          <a:off x="0" y="0"/>
          <a:ext cx="0" cy="0"/>
          <a:chOff x="0" y="0"/>
          <a:chExt cx="0" cy="0"/>
        </a:xfrm>
      </p:grpSpPr>
      <p:sp>
        <p:nvSpPr>
          <p:cNvPr id="152" name="Google Shape;152;g3d6716f47d0_0_4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1100"/>
              <a:buFont typeface="Arial"/>
              <a:buNone/>
            </a:pPr>
            <a:r>
              <a:rPr b="1" lang="en-IN">
                <a:solidFill>
                  <a:srgbClr val="FF0000"/>
                </a:solidFill>
              </a:rPr>
              <a:t>Product &amp; Category Insights</a:t>
            </a:r>
            <a:endParaRPr b="1">
              <a:solidFill>
                <a:srgbClr val="FF0000"/>
              </a:solidFill>
            </a:endParaRPr>
          </a:p>
          <a:p>
            <a:pPr indent="0" lvl="0" marL="0" rtl="0" algn="l">
              <a:spcBef>
                <a:spcPts val="0"/>
              </a:spcBef>
              <a:spcAft>
                <a:spcPts val="0"/>
              </a:spcAft>
              <a:buNone/>
            </a:pPr>
            <a:r>
              <a:t/>
            </a:r>
            <a:endParaRPr b="1" sz="1400">
              <a:solidFill>
                <a:srgbClr val="FF0000"/>
              </a:solidFill>
              <a:latin typeface="Arial"/>
              <a:ea typeface="Arial"/>
              <a:cs typeface="Arial"/>
              <a:sym typeface="Arial"/>
            </a:endParaRPr>
          </a:p>
        </p:txBody>
      </p:sp>
      <p:sp>
        <p:nvSpPr>
          <p:cNvPr id="153" name="Google Shape;153;g3d6716f47d0_0_42"/>
          <p:cNvSpPr txBox="1"/>
          <p:nvPr>
            <p:ph idx="1" type="body"/>
          </p:nvPr>
        </p:nvSpPr>
        <p:spPr>
          <a:xfrm>
            <a:off x="838200" y="1309775"/>
            <a:ext cx="10515600" cy="4954500"/>
          </a:xfrm>
          <a:prstGeom prst="rect">
            <a:avLst/>
          </a:prstGeom>
        </p:spPr>
        <p:txBody>
          <a:bodyPr anchorCtr="0" anchor="t" bIns="45700" lIns="91425" spcFirstLastPara="1" rIns="91425" wrap="square" tIns="45700">
            <a:normAutofit lnSpcReduction="20000"/>
          </a:bodyPr>
          <a:lstStyle/>
          <a:p>
            <a:pPr indent="0" lvl="0" marL="0" rtl="0" algn="l">
              <a:lnSpc>
                <a:spcPct val="115000"/>
              </a:lnSpc>
              <a:spcBef>
                <a:spcPts val="1400"/>
              </a:spcBef>
              <a:spcAft>
                <a:spcPts val="0"/>
              </a:spcAft>
              <a:buClr>
                <a:schemeClr val="dk1"/>
              </a:buClr>
              <a:buSzPts val="1100"/>
              <a:buFont typeface="Arial"/>
              <a:buNone/>
            </a:pPr>
            <a:r>
              <a:rPr b="1" lang="en-IN" sz="2700">
                <a:solidFill>
                  <a:srgbClr val="0000FF"/>
                </a:solidFill>
                <a:latin typeface="Arial"/>
                <a:ea typeface="Arial"/>
                <a:cs typeface="Arial"/>
                <a:sym typeface="Arial"/>
              </a:rPr>
              <a:t>Top Supplier by Revenue (Category-wise)</a:t>
            </a:r>
            <a:endParaRPr b="1" sz="2700">
              <a:solidFill>
                <a:srgbClr val="0000FF"/>
              </a:solidFill>
              <a:latin typeface="Arial"/>
              <a:ea typeface="Arial"/>
              <a:cs typeface="Arial"/>
              <a:sym typeface="Arial"/>
            </a:endParaRPr>
          </a:p>
          <a:p>
            <a:pPr indent="-387350" lvl="0" marL="457200" rtl="0" algn="l">
              <a:lnSpc>
                <a:spcPct val="115000"/>
              </a:lnSpc>
              <a:spcBef>
                <a:spcPts val="1200"/>
              </a:spcBef>
              <a:spcAft>
                <a:spcPts val="0"/>
              </a:spcAft>
              <a:buSzPts val="2500"/>
              <a:buChar char="●"/>
            </a:pPr>
            <a:r>
              <a:rPr b="1" lang="en-IN" sz="2500">
                <a:latin typeface="Arial"/>
                <a:ea typeface="Arial"/>
                <a:cs typeface="Arial"/>
                <a:sym typeface="Arial"/>
              </a:rPr>
              <a:t>Grains &amp; Cereals</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b="1" i="1" lang="en-IN" sz="2500">
                <a:solidFill>
                  <a:srgbClr val="38761D"/>
                </a:solidFill>
                <a:latin typeface="Arial"/>
                <a:ea typeface="Arial"/>
                <a:cs typeface="Arial"/>
                <a:sym typeface="Arial"/>
              </a:rPr>
              <a:t>Aarya Supplier</a:t>
            </a:r>
            <a:r>
              <a:rPr lang="en-IN" sz="2500">
                <a:latin typeface="Arial"/>
                <a:ea typeface="Arial"/>
                <a:cs typeface="Arial"/>
                <a:sym typeface="Arial"/>
              </a:rPr>
              <a:t> generated the highest revenue of </a:t>
            </a:r>
            <a:r>
              <a:rPr b="1" lang="en-IN" sz="2500">
                <a:latin typeface="Arial"/>
                <a:ea typeface="Arial"/>
                <a:cs typeface="Arial"/>
                <a:sym typeface="Arial"/>
              </a:rPr>
              <a:t>₹67,701</a:t>
            </a:r>
            <a:endParaRPr b="1"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Dairy Products</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Sai Supplier</a:t>
            </a:r>
            <a:r>
              <a:rPr lang="en-IN" sz="2500">
                <a:latin typeface="Arial"/>
                <a:ea typeface="Arial"/>
                <a:cs typeface="Arial"/>
                <a:sym typeface="Arial"/>
              </a:rPr>
              <a:t> led with </a:t>
            </a:r>
            <a:r>
              <a:rPr b="1" lang="en-IN" sz="2500">
                <a:latin typeface="Arial"/>
                <a:ea typeface="Arial"/>
                <a:cs typeface="Arial"/>
                <a:sym typeface="Arial"/>
              </a:rPr>
              <a:t>₹50,740</a:t>
            </a:r>
            <a:endParaRPr b="1"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Snacks &amp; Confectioneries</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Aarya Supplier</a:t>
            </a:r>
            <a:r>
              <a:rPr lang="en-IN" sz="2500">
                <a:latin typeface="Arial"/>
                <a:ea typeface="Arial"/>
                <a:cs typeface="Arial"/>
                <a:sym typeface="Arial"/>
              </a:rPr>
              <a:t> again dominated with </a:t>
            </a:r>
            <a:r>
              <a:rPr b="1" lang="en-IN" sz="2500">
                <a:latin typeface="Arial"/>
                <a:ea typeface="Arial"/>
                <a:cs typeface="Arial"/>
                <a:sym typeface="Arial"/>
              </a:rPr>
              <a:t>₹65,538</a:t>
            </a:r>
            <a:endParaRPr b="1"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Personal Care</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Aarya Supplier</a:t>
            </a:r>
            <a:r>
              <a:rPr lang="en-IN" sz="2500">
                <a:latin typeface="Arial"/>
                <a:ea typeface="Arial"/>
                <a:cs typeface="Arial"/>
                <a:sym typeface="Arial"/>
              </a:rPr>
              <a:t> recorded the highest revenue of </a:t>
            </a:r>
            <a:r>
              <a:rPr b="1" lang="en-IN" sz="2500">
                <a:latin typeface="Arial"/>
                <a:ea typeface="Arial"/>
                <a:cs typeface="Arial"/>
                <a:sym typeface="Arial"/>
              </a:rPr>
              <a:t>₹69,378</a:t>
            </a:r>
            <a:endParaRPr b="1" sz="2500">
              <a:latin typeface="Arial"/>
              <a:ea typeface="Arial"/>
              <a:cs typeface="Arial"/>
              <a:sym typeface="Arial"/>
            </a:endParaRPr>
          </a:p>
          <a:p>
            <a:pPr indent="-387350" lvl="0" marL="457200" rtl="0" algn="l">
              <a:lnSpc>
                <a:spcPct val="115000"/>
              </a:lnSpc>
              <a:spcBef>
                <a:spcPts val="0"/>
              </a:spcBef>
              <a:spcAft>
                <a:spcPts val="0"/>
              </a:spcAft>
              <a:buSzPts val="2500"/>
              <a:buChar char="●"/>
            </a:pPr>
            <a:r>
              <a:rPr b="1" lang="en-IN" sz="2500">
                <a:latin typeface="Arial"/>
                <a:ea typeface="Arial"/>
                <a:cs typeface="Arial"/>
                <a:sym typeface="Arial"/>
              </a:rPr>
              <a:t>Household</a:t>
            </a:r>
            <a:r>
              <a:rPr lang="en-IN" sz="2500">
                <a:latin typeface="Arial"/>
                <a:ea typeface="Arial"/>
                <a:cs typeface="Arial"/>
                <a:sym typeface="Arial"/>
              </a:rPr>
              <a:t>:</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i="1" lang="en-IN" sz="2500">
                <a:latin typeface="Arial"/>
                <a:ea typeface="Arial"/>
                <a:cs typeface="Arial"/>
                <a:sym typeface="Arial"/>
              </a:rPr>
              <a:t>Karthik Supplier</a:t>
            </a:r>
            <a:r>
              <a:rPr lang="en-IN" sz="2500">
                <a:latin typeface="Arial"/>
                <a:ea typeface="Arial"/>
                <a:cs typeface="Arial"/>
                <a:sym typeface="Arial"/>
              </a:rPr>
              <a:t> contributed the highest revenue of </a:t>
            </a:r>
            <a:r>
              <a:rPr b="1" lang="en-IN" sz="2500">
                <a:latin typeface="Arial"/>
                <a:ea typeface="Arial"/>
                <a:cs typeface="Arial"/>
                <a:sym typeface="Arial"/>
              </a:rPr>
              <a:t>₹22,767</a:t>
            </a:r>
            <a:endParaRPr b="1" sz="2500">
              <a:latin typeface="Arial"/>
              <a:ea typeface="Arial"/>
              <a:cs typeface="Arial"/>
              <a:sym typeface="Arial"/>
            </a:endParaRPr>
          </a:p>
          <a:p>
            <a:pPr indent="0" lvl="0" marL="0" rtl="0" algn="l">
              <a:spcBef>
                <a:spcPts val="1200"/>
              </a:spcBef>
              <a:spcAft>
                <a:spcPts val="0"/>
              </a:spcAft>
              <a:buNone/>
            </a:pPr>
            <a:r>
              <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3d6716f47d0_0_3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lnSpc>
                <a:spcPct val="115000"/>
              </a:lnSpc>
              <a:spcBef>
                <a:spcPts val="2400"/>
              </a:spcBef>
              <a:spcAft>
                <a:spcPts val="600"/>
              </a:spcAft>
              <a:buClr>
                <a:schemeClr val="dk1"/>
              </a:buClr>
              <a:buSzPts val="1100"/>
              <a:buFont typeface="Arial"/>
              <a:buNone/>
            </a:pPr>
            <a:r>
              <a:rPr b="1" lang="en-IN" sz="4200">
                <a:solidFill>
                  <a:srgbClr val="FF0000"/>
                </a:solidFill>
                <a:latin typeface="Arial"/>
                <a:ea typeface="Arial"/>
                <a:cs typeface="Arial"/>
                <a:sym typeface="Arial"/>
              </a:rPr>
              <a:t>Customer Behavior Patterns</a:t>
            </a:r>
            <a:endParaRPr sz="6300">
              <a:solidFill>
                <a:srgbClr val="FF0000"/>
              </a:solidFill>
            </a:endParaRPr>
          </a:p>
        </p:txBody>
      </p:sp>
      <p:sp>
        <p:nvSpPr>
          <p:cNvPr id="160" name="Google Shape;160;g3d6716f47d0_0_36"/>
          <p:cNvSpPr txBox="1"/>
          <p:nvPr>
            <p:ph idx="1" type="body"/>
          </p:nvPr>
        </p:nvSpPr>
        <p:spPr>
          <a:xfrm>
            <a:off x="301000" y="1480600"/>
            <a:ext cx="11763600" cy="5149500"/>
          </a:xfrm>
          <a:prstGeom prst="rect">
            <a:avLst/>
          </a:prstGeom>
        </p:spPr>
        <p:txBody>
          <a:bodyPr anchorCtr="0" anchor="t" bIns="45700" lIns="91425" spcFirstLastPara="1" rIns="91425" wrap="square" tIns="45700">
            <a:normAutofit/>
          </a:bodyPr>
          <a:lstStyle/>
          <a:p>
            <a:pPr indent="0" lvl="0" marL="0" rtl="0" algn="l">
              <a:lnSpc>
                <a:spcPct val="115000"/>
              </a:lnSpc>
              <a:spcBef>
                <a:spcPts val="1400"/>
              </a:spcBef>
              <a:spcAft>
                <a:spcPts val="0"/>
              </a:spcAft>
              <a:buClr>
                <a:schemeClr val="dk1"/>
              </a:buClr>
              <a:buSzPts val="1100"/>
              <a:buFont typeface="Arial"/>
              <a:buNone/>
            </a:pPr>
            <a:r>
              <a:rPr b="1" lang="en-IN" sz="1600">
                <a:solidFill>
                  <a:srgbClr val="0000FF"/>
                </a:solidFill>
                <a:latin typeface="Arial"/>
                <a:ea typeface="Arial"/>
                <a:cs typeface="Arial"/>
                <a:sym typeface="Arial"/>
              </a:rPr>
              <a:t>Customer Behavior Patterns</a:t>
            </a:r>
            <a:endParaRPr b="1" sz="1600">
              <a:solidFill>
                <a:srgbClr val="0000FF"/>
              </a:solidFill>
              <a:latin typeface="Arial"/>
              <a:ea typeface="Arial"/>
              <a:cs typeface="Arial"/>
              <a:sym typeface="Arial"/>
            </a:endParaRPr>
          </a:p>
          <a:p>
            <a:pPr indent="-317500" lvl="0" marL="457200" rtl="0" algn="l">
              <a:lnSpc>
                <a:spcPct val="115000"/>
              </a:lnSpc>
              <a:spcBef>
                <a:spcPts val="1200"/>
              </a:spcBef>
              <a:spcAft>
                <a:spcPts val="0"/>
              </a:spcAft>
              <a:buSzPts val="1400"/>
              <a:buChar char="●"/>
            </a:pPr>
            <a:r>
              <a:rPr lang="en-IN" sz="1400">
                <a:latin typeface="Arial"/>
                <a:ea typeface="Arial"/>
                <a:cs typeface="Arial"/>
                <a:sym typeface="Arial"/>
              </a:rPr>
              <a:t>A total of </a:t>
            </a:r>
            <a:r>
              <a:rPr b="1" lang="en-IN" sz="1400">
                <a:latin typeface="Arial"/>
                <a:ea typeface="Arial"/>
                <a:cs typeface="Arial"/>
                <a:sym typeface="Arial"/>
              </a:rPr>
              <a:t>156 customers</a:t>
            </a:r>
            <a:r>
              <a:rPr lang="en-IN" sz="1400">
                <a:latin typeface="Arial"/>
                <a:ea typeface="Arial"/>
                <a:cs typeface="Arial"/>
                <a:sym typeface="Arial"/>
              </a:rPr>
              <a:t> have placed orders, indicating a reasonably diverse customer base.</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b="1" lang="en-IN" sz="1400">
                <a:latin typeface="Arial"/>
                <a:ea typeface="Arial"/>
                <a:cs typeface="Arial"/>
                <a:sym typeface="Arial"/>
              </a:rPr>
              <a:t>Top customers by order quantity</a:t>
            </a:r>
            <a:r>
              <a:rPr lang="en-IN" sz="1400">
                <a:latin typeface="Arial"/>
                <a:ea typeface="Arial"/>
                <a:cs typeface="Arial"/>
                <a:sym typeface="Arial"/>
              </a:rPr>
              <a:t>:</a:t>
            </a:r>
            <a:endParaRPr sz="1400">
              <a:latin typeface="Arial"/>
              <a:ea typeface="Arial"/>
              <a:cs typeface="Arial"/>
              <a:sym typeface="Arial"/>
            </a:endParaRPr>
          </a:p>
          <a:p>
            <a:pPr indent="-317500" lvl="1" marL="914400" rtl="0" algn="l">
              <a:lnSpc>
                <a:spcPct val="115000"/>
              </a:lnSpc>
              <a:spcBef>
                <a:spcPts val="0"/>
              </a:spcBef>
              <a:spcAft>
                <a:spcPts val="0"/>
              </a:spcAft>
              <a:buSzPts val="1400"/>
              <a:buChar char="○"/>
            </a:pPr>
            <a:r>
              <a:rPr b="1" lang="en-IN" sz="1400">
                <a:latin typeface="Arial"/>
                <a:ea typeface="Arial"/>
                <a:cs typeface="Arial"/>
                <a:sym typeface="Arial"/>
              </a:rPr>
              <a:t>Jyotika</a:t>
            </a:r>
            <a:r>
              <a:rPr lang="en-IN" sz="1400">
                <a:latin typeface="Arial"/>
                <a:ea typeface="Arial"/>
                <a:cs typeface="Arial"/>
                <a:sym typeface="Arial"/>
              </a:rPr>
              <a:t> – 7 orders</a:t>
            </a:r>
            <a:endParaRPr sz="1400">
              <a:latin typeface="Arial"/>
              <a:ea typeface="Arial"/>
              <a:cs typeface="Arial"/>
              <a:sym typeface="Arial"/>
            </a:endParaRPr>
          </a:p>
          <a:p>
            <a:pPr indent="-317500" lvl="1" marL="914400" rtl="0" algn="l">
              <a:lnSpc>
                <a:spcPct val="115000"/>
              </a:lnSpc>
              <a:spcBef>
                <a:spcPts val="0"/>
              </a:spcBef>
              <a:spcAft>
                <a:spcPts val="0"/>
              </a:spcAft>
              <a:buSzPts val="1400"/>
              <a:buChar char="○"/>
            </a:pPr>
            <a:r>
              <a:rPr b="1" lang="en-IN" sz="1400">
                <a:latin typeface="Arial"/>
                <a:ea typeface="Arial"/>
                <a:cs typeface="Arial"/>
                <a:sym typeface="Arial"/>
              </a:rPr>
              <a:t>Aditi Rao</a:t>
            </a:r>
            <a:r>
              <a:rPr lang="en-IN" sz="1400">
                <a:latin typeface="Arial"/>
                <a:ea typeface="Arial"/>
                <a:cs typeface="Arial"/>
                <a:sym typeface="Arial"/>
              </a:rPr>
              <a:t> – 6 orders</a:t>
            </a:r>
            <a:endParaRPr sz="1400">
              <a:latin typeface="Arial"/>
              <a:ea typeface="Arial"/>
              <a:cs typeface="Arial"/>
              <a:sym typeface="Arial"/>
            </a:endParaRPr>
          </a:p>
          <a:p>
            <a:pPr indent="-317500" lvl="1" marL="914400" rtl="0" algn="l">
              <a:lnSpc>
                <a:spcPct val="115000"/>
              </a:lnSpc>
              <a:spcBef>
                <a:spcPts val="0"/>
              </a:spcBef>
              <a:spcAft>
                <a:spcPts val="0"/>
              </a:spcAft>
              <a:buSzPts val="1400"/>
              <a:buChar char="○"/>
            </a:pPr>
            <a:r>
              <a:rPr b="1" lang="en-IN" sz="1400">
                <a:latin typeface="Arial"/>
                <a:ea typeface="Arial"/>
                <a:cs typeface="Arial"/>
                <a:sym typeface="Arial"/>
              </a:rPr>
              <a:t>Chetan Naidu</a:t>
            </a:r>
            <a:r>
              <a:rPr lang="en-IN" sz="1400">
                <a:latin typeface="Arial"/>
                <a:ea typeface="Arial"/>
                <a:cs typeface="Arial"/>
                <a:sym typeface="Arial"/>
              </a:rPr>
              <a:t> – 5 orders</a:t>
            </a:r>
            <a:endParaRPr sz="1400">
              <a:latin typeface="Arial"/>
              <a:ea typeface="Arial"/>
              <a:cs typeface="Arial"/>
              <a:sym typeface="Arial"/>
            </a:endParaRPr>
          </a:p>
          <a:p>
            <a:pPr indent="-317500" lvl="0" marL="457200" rtl="0" algn="l">
              <a:lnSpc>
                <a:spcPct val="115000"/>
              </a:lnSpc>
              <a:spcBef>
                <a:spcPts val="0"/>
              </a:spcBef>
              <a:spcAft>
                <a:spcPts val="0"/>
              </a:spcAft>
              <a:buSzPts val="1400"/>
              <a:buChar char="●"/>
            </a:pPr>
            <a:r>
              <a:rPr lang="en-IN" sz="1400">
                <a:latin typeface="Arial"/>
                <a:ea typeface="Arial"/>
                <a:cs typeface="Arial"/>
                <a:sym typeface="Arial"/>
              </a:rPr>
              <a:t>The </a:t>
            </a:r>
            <a:r>
              <a:rPr b="1" lang="en-IN" sz="1400">
                <a:latin typeface="Arial"/>
                <a:ea typeface="Arial"/>
                <a:cs typeface="Arial"/>
                <a:sym typeface="Arial"/>
              </a:rPr>
              <a:t>average purchase value per customer</a:t>
            </a:r>
            <a:r>
              <a:rPr lang="en-IN" sz="1400">
                <a:latin typeface="Arial"/>
                <a:ea typeface="Arial"/>
                <a:cs typeface="Arial"/>
                <a:sym typeface="Arial"/>
              </a:rPr>
              <a:t> ranges from </a:t>
            </a:r>
            <a:r>
              <a:rPr b="1" lang="en-IN" sz="1400">
                <a:latin typeface="Arial"/>
                <a:ea typeface="Arial"/>
                <a:cs typeface="Arial"/>
                <a:sym typeface="Arial"/>
              </a:rPr>
              <a:t>₹133.51 to ₹1,944</a:t>
            </a:r>
            <a:r>
              <a:rPr lang="en-IN" sz="1400">
                <a:latin typeface="Arial"/>
                <a:ea typeface="Arial"/>
                <a:cs typeface="Arial"/>
                <a:sym typeface="Arial"/>
              </a:rPr>
              <a:t>, showing a wide variation in spending behavior.</a:t>
            </a:r>
            <a:endParaRPr sz="1400">
              <a:latin typeface="Arial"/>
              <a:ea typeface="Arial"/>
              <a:cs typeface="Arial"/>
              <a:sym typeface="Arial"/>
            </a:endParaRPr>
          </a:p>
          <a:p>
            <a:pPr indent="-317500" lvl="0" marL="457200" rtl="0" algn="l">
              <a:lnSpc>
                <a:spcPct val="115000"/>
              </a:lnSpc>
              <a:spcBef>
                <a:spcPts val="0"/>
              </a:spcBef>
              <a:spcAft>
                <a:spcPts val="0"/>
              </a:spcAft>
              <a:buSzPts val="1400"/>
              <a:buFont typeface="Arial"/>
              <a:buChar char="●"/>
            </a:pPr>
            <a:r>
              <a:rPr lang="en-IN" sz="1400">
                <a:latin typeface="Arial"/>
                <a:ea typeface="Arial"/>
                <a:cs typeface="Arial"/>
                <a:sym typeface="Arial"/>
              </a:rPr>
              <a:t>Top 5 customers by total purchase amount is below:</a:t>
            </a:r>
            <a:endParaRPr sz="1400">
              <a:latin typeface="Arial"/>
              <a:ea typeface="Arial"/>
              <a:cs typeface="Arial"/>
              <a:sym typeface="Arial"/>
            </a:endParaRPr>
          </a:p>
          <a:p>
            <a:pPr indent="0" lvl="0" marL="0" rtl="0" algn="l">
              <a:lnSpc>
                <a:spcPct val="115000"/>
              </a:lnSpc>
              <a:spcBef>
                <a:spcPts val="1200"/>
              </a:spcBef>
              <a:spcAft>
                <a:spcPts val="0"/>
              </a:spcAft>
              <a:buNone/>
            </a:pPr>
            <a:r>
              <a:t/>
            </a:r>
            <a:endParaRPr b="1" sz="2300">
              <a:latin typeface="Arial"/>
              <a:ea typeface="Arial"/>
              <a:cs typeface="Arial"/>
              <a:sym typeface="Arial"/>
            </a:endParaRPr>
          </a:p>
          <a:p>
            <a:pPr indent="0" lvl="0" marL="0" rtl="0" algn="l">
              <a:spcBef>
                <a:spcPts val="1200"/>
              </a:spcBef>
              <a:spcAft>
                <a:spcPts val="0"/>
              </a:spcAft>
              <a:buNone/>
            </a:pPr>
            <a:r>
              <a:t/>
            </a:r>
            <a:endParaRPr/>
          </a:p>
        </p:txBody>
      </p:sp>
      <p:pic>
        <p:nvPicPr>
          <p:cNvPr id="161" name="Google Shape;161;g3d6716f47d0_0_36" title="Screenshot 2026-04-16 194359.png"/>
          <p:cNvPicPr preferRelativeResize="0"/>
          <p:nvPr/>
        </p:nvPicPr>
        <p:blipFill>
          <a:blip r:embed="rId3">
            <a:alphaModFix/>
          </a:blip>
          <a:stretch>
            <a:fillRect/>
          </a:stretch>
        </p:blipFill>
        <p:spPr>
          <a:xfrm>
            <a:off x="479550" y="4107003"/>
            <a:ext cx="4057650" cy="19193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6" name="Shape 166"/>
        <p:cNvGrpSpPr/>
        <p:nvPr/>
      </p:nvGrpSpPr>
      <p:grpSpPr>
        <a:xfrm>
          <a:off x="0" y="0"/>
          <a:ext cx="0" cy="0"/>
          <a:chOff x="0" y="0"/>
          <a:chExt cx="0" cy="0"/>
        </a:xfrm>
      </p:grpSpPr>
      <p:sp>
        <p:nvSpPr>
          <p:cNvPr id="167" name="Google Shape;167;g3d6716f47d0_0_4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ctr">
              <a:spcBef>
                <a:spcPts val="0"/>
              </a:spcBef>
              <a:spcAft>
                <a:spcPts val="0"/>
              </a:spcAft>
              <a:buNone/>
            </a:pPr>
            <a:r>
              <a:rPr b="1" lang="en-IN">
                <a:solidFill>
                  <a:srgbClr val="FF0000"/>
                </a:solidFill>
              </a:rPr>
              <a:t>Key Insights</a:t>
            </a:r>
            <a:endParaRPr b="1">
              <a:solidFill>
                <a:srgbClr val="FF0000"/>
              </a:solidFill>
            </a:endParaRPr>
          </a:p>
        </p:txBody>
      </p:sp>
      <p:sp>
        <p:nvSpPr>
          <p:cNvPr id="168" name="Google Shape;168;g3d6716f47d0_0_48"/>
          <p:cNvSpPr txBox="1"/>
          <p:nvPr>
            <p:ph idx="1" type="body"/>
          </p:nvPr>
        </p:nvSpPr>
        <p:spPr>
          <a:xfrm>
            <a:off x="838200" y="2157700"/>
            <a:ext cx="10515600" cy="4019100"/>
          </a:xfrm>
          <a:prstGeom prst="rect">
            <a:avLst/>
          </a:prstGeom>
        </p:spPr>
        <p:txBody>
          <a:bodyPr anchorCtr="0" anchor="t" bIns="45700" lIns="91425" spcFirstLastPara="1" rIns="91425" wrap="square" tIns="45700">
            <a:normAutofit/>
          </a:bodyPr>
          <a:lstStyle/>
          <a:p>
            <a:pPr indent="-361950" lvl="0" marL="457200" rtl="0" algn="l">
              <a:lnSpc>
                <a:spcPct val="150000"/>
              </a:lnSpc>
              <a:spcBef>
                <a:spcPts val="1000"/>
              </a:spcBef>
              <a:spcAft>
                <a:spcPts val="0"/>
              </a:spcAft>
              <a:buSzPts val="2100"/>
              <a:buFont typeface="Arial"/>
              <a:buChar char="➔"/>
            </a:pPr>
            <a:r>
              <a:rPr lang="en-IN" sz="2100">
                <a:latin typeface="Arial"/>
                <a:ea typeface="Arial"/>
                <a:cs typeface="Arial"/>
                <a:sym typeface="Arial"/>
              </a:rPr>
              <a:t>The analysis shows that the business has a </a:t>
            </a:r>
            <a:r>
              <a:rPr b="1" lang="en-IN" sz="2100">
                <a:latin typeface="Arial"/>
                <a:ea typeface="Arial"/>
                <a:cs typeface="Arial"/>
                <a:sym typeface="Arial"/>
              </a:rPr>
              <a:t>diverse product portfolio across 5 categories</a:t>
            </a:r>
            <a:r>
              <a:rPr lang="en-IN" sz="2100">
                <a:latin typeface="Arial"/>
                <a:ea typeface="Arial"/>
                <a:cs typeface="Arial"/>
                <a:sym typeface="Arial"/>
              </a:rPr>
              <a:t> with moderate pricing, where </a:t>
            </a:r>
            <a:r>
              <a:rPr b="1" lang="en-IN" sz="2100">
                <a:latin typeface="Arial"/>
                <a:ea typeface="Arial"/>
                <a:cs typeface="Arial"/>
                <a:sym typeface="Arial"/>
              </a:rPr>
              <a:t>Grains &amp; Cereals and Snacks &amp; Confectioneries drive higher revenue.</a:t>
            </a:r>
            <a:endParaRPr b="1"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b="1" lang="en-IN" sz="2100">
                <a:latin typeface="Arial"/>
                <a:ea typeface="Arial"/>
                <a:cs typeface="Arial"/>
                <a:sym typeface="Arial"/>
              </a:rPr>
              <a:t>Aarya Supplier emerges as the key contributor</a:t>
            </a:r>
            <a:r>
              <a:rPr lang="en-IN" sz="2100">
                <a:latin typeface="Arial"/>
                <a:ea typeface="Arial"/>
                <a:cs typeface="Arial"/>
                <a:sym typeface="Arial"/>
              </a:rPr>
              <a:t>, leading in multiple categories, while other suppliers like Sai and Karthik show </a:t>
            </a:r>
            <a:r>
              <a:rPr b="1" lang="en-IN" sz="2100">
                <a:latin typeface="Arial"/>
                <a:ea typeface="Arial"/>
                <a:cs typeface="Arial"/>
                <a:sym typeface="Arial"/>
              </a:rPr>
              <a:t>category-specific strengths</a:t>
            </a:r>
            <a:r>
              <a:rPr lang="en-IN" sz="2100">
                <a:latin typeface="Arial"/>
                <a:ea typeface="Arial"/>
                <a:cs typeface="Arial"/>
                <a:sym typeface="Arial"/>
              </a:rPr>
              <a:t>.</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IN" sz="2100">
                <a:latin typeface="Arial"/>
                <a:ea typeface="Arial"/>
                <a:cs typeface="Arial"/>
                <a:sym typeface="Arial"/>
              </a:rPr>
              <a:t>From a customer perspective, the presence of </a:t>
            </a:r>
            <a:r>
              <a:rPr b="1" lang="en-IN" sz="2100">
                <a:latin typeface="Arial"/>
                <a:ea typeface="Arial"/>
                <a:cs typeface="Arial"/>
                <a:sym typeface="Arial"/>
              </a:rPr>
              <a:t>156 customers with varying purchase values</a:t>
            </a:r>
            <a:r>
              <a:rPr lang="en-IN" sz="2100">
                <a:latin typeface="Arial"/>
                <a:ea typeface="Arial"/>
                <a:cs typeface="Arial"/>
                <a:sym typeface="Arial"/>
              </a:rPr>
              <a:t> highlights a </a:t>
            </a:r>
            <a:r>
              <a:rPr b="1" lang="en-IN" sz="2100">
                <a:latin typeface="Arial"/>
                <a:ea typeface="Arial"/>
                <a:cs typeface="Arial"/>
                <a:sym typeface="Arial"/>
              </a:rPr>
              <a:t>mixed customer base. </a:t>
            </a:r>
            <a:endParaRPr sz="2100">
              <a:latin typeface="Arial"/>
              <a:ea typeface="Arial"/>
              <a:cs typeface="Arial"/>
              <a:sym typeface="Arial"/>
            </a:endParaRPr>
          </a:p>
          <a:p>
            <a:pPr indent="-361950" lvl="0" marL="457200" rtl="0" algn="l">
              <a:lnSpc>
                <a:spcPct val="115000"/>
              </a:lnSpc>
              <a:spcBef>
                <a:spcPts val="0"/>
              </a:spcBef>
              <a:spcAft>
                <a:spcPts val="0"/>
              </a:spcAft>
              <a:buSzPts val="2100"/>
              <a:buFont typeface="Arial"/>
              <a:buChar char="➔"/>
            </a:pPr>
            <a:r>
              <a:rPr lang="en-IN" sz="2100">
                <a:latin typeface="Arial"/>
                <a:ea typeface="Arial"/>
                <a:cs typeface="Arial"/>
                <a:sym typeface="Arial"/>
              </a:rPr>
              <a:t>Overall, the business has strong potential to grow by </a:t>
            </a:r>
            <a:r>
              <a:rPr b="1" lang="en-IN" sz="2100">
                <a:latin typeface="Arial"/>
                <a:ea typeface="Arial"/>
                <a:cs typeface="Arial"/>
                <a:sym typeface="Arial"/>
              </a:rPr>
              <a:t>focusing on top-performing suppliers, high-revenue categories, and retaining loyal customers.</a:t>
            </a:r>
            <a:endParaRPr sz="2100">
              <a:latin typeface="Arial"/>
              <a:ea typeface="Arial"/>
              <a:cs typeface="Arial"/>
              <a:sym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pic>
        <p:nvPicPr>
          <p:cNvPr id="173" name="Google Shape;173;p5"/>
          <p:cNvPicPr preferRelativeResize="0"/>
          <p:nvPr/>
        </p:nvPicPr>
        <p:blipFill rotWithShape="1">
          <a:blip r:embed="rId3">
            <a:alphaModFix/>
          </a:blip>
          <a:srcRect b="0" l="0" r="0" t="0"/>
          <a:stretch/>
        </p:blipFill>
        <p:spPr>
          <a:xfrm>
            <a:off x="6466516" y="1850749"/>
            <a:ext cx="4465643" cy="2834317"/>
          </a:xfrm>
          <a:prstGeom prst="rect">
            <a:avLst/>
          </a:prstGeom>
          <a:noFill/>
          <a:ln>
            <a:noFill/>
          </a:ln>
        </p:spPr>
      </p:pic>
      <p:sp>
        <p:nvSpPr>
          <p:cNvPr id="174" name="Google Shape;174;p5"/>
          <p:cNvSpPr txBox="1"/>
          <p:nvPr/>
        </p:nvSpPr>
        <p:spPr>
          <a:xfrm>
            <a:off x="1244600" y="2997200"/>
            <a:ext cx="3661836" cy="76944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C00000"/>
              </a:buClr>
              <a:buSzPts val="4400"/>
              <a:buFont typeface="Libre Baskerville"/>
              <a:buNone/>
            </a:pPr>
            <a:r>
              <a:rPr b="0" i="0" lang="en-IN" sz="4400" u="none" cap="none" strike="noStrike">
                <a:solidFill>
                  <a:srgbClr val="C00000"/>
                </a:solidFill>
                <a:latin typeface="Libre Baskerville"/>
                <a:ea typeface="Libre Baskerville"/>
                <a:cs typeface="Libre Baskerville"/>
                <a:sym typeface="Libre Baskerville"/>
              </a:rPr>
              <a:t>THANK YOU</a:t>
            </a:r>
            <a:endParaRPr b="0" i="0" sz="18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2021-02-16T05:19:01Z</dcterms:created>
  <dc:creator>Raghu Ram Aduri</dc:creator>
</cp:coreProperties>
</file>
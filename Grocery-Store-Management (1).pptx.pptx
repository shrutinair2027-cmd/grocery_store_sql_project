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" charset="1" panose="02000503000000020004"/>
      <p:regular r:id="rId17"/>
    </p:embeddedFont>
    <p:embeddedFont>
      <p:font typeface="Inter Bold" charset="1" panose="02000503000000020004"/>
      <p:regular r:id="rId18"/>
    </p:embeddedFont>
    <p:embeddedFont>
      <p:font typeface="Inter Italics" charset="1" panose="0200050300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63231" y="1862604"/>
            <a:ext cx="2468394" cy="42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726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SQL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15651" y="2462374"/>
            <a:ext cx="10470385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31"/>
              </a:lnSpc>
            </a:pPr>
            <a:r>
              <a:rPr lang="en-US" sz="555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Grocery Store Management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19941" y="3472063"/>
            <a:ext cx="446181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77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Shrutika Nair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4430801"/>
            <a:ext cx="16315868" cy="38129"/>
            <a:chOff x="0" y="0"/>
            <a:chExt cx="21754490" cy="50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754464" cy="50800"/>
            </a:xfrm>
            <a:custGeom>
              <a:avLst/>
              <a:gdLst/>
              <a:ahLst/>
              <a:cxnLst/>
              <a:rect r="r" b="b" t="t" l="l"/>
              <a:pathLst>
                <a:path h="50800" w="2175446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29064" y="0"/>
                  </a:lnTo>
                  <a:cubicBezTo>
                    <a:pt x="21743161" y="0"/>
                    <a:pt x="21754464" y="11430"/>
                    <a:pt x="21754464" y="25400"/>
                  </a:cubicBezTo>
                  <a:cubicBezTo>
                    <a:pt x="21754464" y="39370"/>
                    <a:pt x="21743034" y="50800"/>
                    <a:pt x="21729064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E5E0DF">
                <a:alpha val="24706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8219" y="4854245"/>
            <a:ext cx="8025527" cy="1663560"/>
            <a:chOff x="0" y="0"/>
            <a:chExt cx="10700702" cy="2218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00639" cy="2218055"/>
            </a:xfrm>
            <a:custGeom>
              <a:avLst/>
              <a:gdLst/>
              <a:ahLst/>
              <a:cxnLst/>
              <a:rect r="r" b="b" t="t" l="l"/>
              <a:pathLst>
                <a:path h="2218055" w="10700639">
                  <a:moveTo>
                    <a:pt x="0" y="159766"/>
                  </a:moveTo>
                  <a:cubicBezTo>
                    <a:pt x="0" y="71501"/>
                    <a:pt x="71501" y="0"/>
                    <a:pt x="159766" y="0"/>
                  </a:cubicBezTo>
                  <a:lnTo>
                    <a:pt x="10540873" y="0"/>
                  </a:lnTo>
                  <a:cubicBezTo>
                    <a:pt x="10629138" y="0"/>
                    <a:pt x="10700639" y="71501"/>
                    <a:pt x="10700639" y="159766"/>
                  </a:cubicBezTo>
                  <a:lnTo>
                    <a:pt x="10700639" y="2058289"/>
                  </a:lnTo>
                  <a:cubicBezTo>
                    <a:pt x="10700639" y="2146554"/>
                    <a:pt x="10629138" y="2218055"/>
                    <a:pt x="10540873" y="2218055"/>
                  </a:cubicBezTo>
                  <a:lnTo>
                    <a:pt x="159766" y="2218055"/>
                  </a:lnTo>
                  <a:cubicBezTo>
                    <a:pt x="71501" y="2218055"/>
                    <a:pt x="0" y="2146554"/>
                    <a:pt x="0" y="2058289"/>
                  </a:cubicBezTo>
                  <a:close/>
                </a:path>
              </a:pathLst>
            </a:custGeom>
            <a:solidFill>
              <a:srgbClr val="110080"/>
            </a:solidFill>
            <a:ln w="9532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286256" y="5133242"/>
            <a:ext cx="4438288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📊</a:t>
            </a:r>
            <a:r>
              <a:rPr lang="en-US" sz="2777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Track Sales &amp; Revenue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6256" y="5689587"/>
            <a:ext cx="7429462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Monitor monthly revenue trends and order volumes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87942" y="4854245"/>
            <a:ext cx="8025670" cy="1663560"/>
            <a:chOff x="0" y="0"/>
            <a:chExt cx="10700893" cy="2218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00893" cy="2218055"/>
            </a:xfrm>
            <a:custGeom>
              <a:avLst/>
              <a:gdLst/>
              <a:ahLst/>
              <a:cxnLst/>
              <a:rect r="r" b="b" t="t" l="l"/>
              <a:pathLst>
                <a:path h="2218055" w="10700893">
                  <a:moveTo>
                    <a:pt x="0" y="159766"/>
                  </a:moveTo>
                  <a:cubicBezTo>
                    <a:pt x="0" y="71501"/>
                    <a:pt x="71501" y="0"/>
                    <a:pt x="159766" y="0"/>
                  </a:cubicBezTo>
                  <a:lnTo>
                    <a:pt x="10541127" y="0"/>
                  </a:lnTo>
                  <a:cubicBezTo>
                    <a:pt x="10629392" y="0"/>
                    <a:pt x="10700893" y="71501"/>
                    <a:pt x="10700893" y="159766"/>
                  </a:cubicBezTo>
                  <a:lnTo>
                    <a:pt x="10700893" y="2058289"/>
                  </a:lnTo>
                  <a:cubicBezTo>
                    <a:pt x="10700893" y="2146554"/>
                    <a:pt x="10629392" y="2218055"/>
                    <a:pt x="10541127" y="2218055"/>
                  </a:cubicBezTo>
                  <a:lnTo>
                    <a:pt x="159766" y="2218055"/>
                  </a:lnTo>
                  <a:cubicBezTo>
                    <a:pt x="71501" y="2218055"/>
                    <a:pt x="0" y="2146554"/>
                    <a:pt x="0" y="2058289"/>
                  </a:cubicBezTo>
                  <a:close/>
                </a:path>
              </a:pathLst>
            </a:custGeom>
            <a:solidFill>
              <a:srgbClr val="110080"/>
            </a:solidFill>
            <a:ln w="9532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585979" y="5133242"/>
            <a:ext cx="4079634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🏭</a:t>
            </a:r>
            <a:r>
              <a:rPr lang="en-US" sz="2777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Supplier Profitability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85979" y="5689587"/>
            <a:ext cx="742961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Evaluate which suppliers drive the most value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88219" y="6792020"/>
            <a:ext cx="8025527" cy="1663560"/>
            <a:chOff x="0" y="0"/>
            <a:chExt cx="10700702" cy="2218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00639" cy="2218055"/>
            </a:xfrm>
            <a:custGeom>
              <a:avLst/>
              <a:gdLst/>
              <a:ahLst/>
              <a:cxnLst/>
              <a:rect r="r" b="b" t="t" l="l"/>
              <a:pathLst>
                <a:path h="2218055" w="10700639">
                  <a:moveTo>
                    <a:pt x="0" y="159766"/>
                  </a:moveTo>
                  <a:cubicBezTo>
                    <a:pt x="0" y="71501"/>
                    <a:pt x="71501" y="0"/>
                    <a:pt x="159766" y="0"/>
                  </a:cubicBezTo>
                  <a:lnTo>
                    <a:pt x="10540873" y="0"/>
                  </a:lnTo>
                  <a:cubicBezTo>
                    <a:pt x="10629138" y="0"/>
                    <a:pt x="10700639" y="71501"/>
                    <a:pt x="10700639" y="159766"/>
                  </a:cubicBezTo>
                  <a:lnTo>
                    <a:pt x="10700639" y="2058289"/>
                  </a:lnTo>
                  <a:cubicBezTo>
                    <a:pt x="10700639" y="2146554"/>
                    <a:pt x="10629138" y="2218055"/>
                    <a:pt x="10540873" y="2218055"/>
                  </a:cubicBezTo>
                  <a:lnTo>
                    <a:pt x="159766" y="2218055"/>
                  </a:lnTo>
                  <a:cubicBezTo>
                    <a:pt x="71501" y="2218055"/>
                    <a:pt x="0" y="2146554"/>
                    <a:pt x="0" y="2058289"/>
                  </a:cubicBezTo>
                  <a:close/>
                </a:path>
              </a:pathLst>
            </a:custGeom>
            <a:solidFill>
              <a:srgbClr val="110080"/>
            </a:solidFill>
            <a:ln w="9532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286256" y="7071008"/>
            <a:ext cx="5768921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👥</a:t>
            </a:r>
            <a:r>
              <a:rPr lang="en-US" sz="2777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Customer &amp; Employee Activity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6256" y="7627353"/>
            <a:ext cx="7429462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Analyze behavior, performance, and engagement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87942" y="6792020"/>
            <a:ext cx="8025670" cy="1663560"/>
            <a:chOff x="0" y="0"/>
            <a:chExt cx="10700893" cy="2218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00893" cy="2218055"/>
            </a:xfrm>
            <a:custGeom>
              <a:avLst/>
              <a:gdLst/>
              <a:ahLst/>
              <a:cxnLst/>
              <a:rect r="r" b="b" t="t" l="l"/>
              <a:pathLst>
                <a:path h="2218055" w="10700893">
                  <a:moveTo>
                    <a:pt x="0" y="159766"/>
                  </a:moveTo>
                  <a:cubicBezTo>
                    <a:pt x="0" y="71501"/>
                    <a:pt x="71501" y="0"/>
                    <a:pt x="159766" y="0"/>
                  </a:cubicBezTo>
                  <a:lnTo>
                    <a:pt x="10541127" y="0"/>
                  </a:lnTo>
                  <a:cubicBezTo>
                    <a:pt x="10629392" y="0"/>
                    <a:pt x="10700893" y="71501"/>
                    <a:pt x="10700893" y="159766"/>
                  </a:cubicBezTo>
                  <a:lnTo>
                    <a:pt x="10700893" y="2058289"/>
                  </a:lnTo>
                  <a:cubicBezTo>
                    <a:pt x="10700893" y="2146554"/>
                    <a:pt x="10629392" y="2218055"/>
                    <a:pt x="10541127" y="2218055"/>
                  </a:cubicBezTo>
                  <a:lnTo>
                    <a:pt x="159766" y="2218055"/>
                  </a:lnTo>
                  <a:cubicBezTo>
                    <a:pt x="71501" y="2218055"/>
                    <a:pt x="0" y="2146554"/>
                    <a:pt x="0" y="2058289"/>
                  </a:cubicBezTo>
                  <a:close/>
                </a:path>
              </a:pathLst>
            </a:custGeom>
            <a:solidFill>
              <a:srgbClr val="110080"/>
            </a:solidFill>
            <a:ln w="9532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585979" y="7071008"/>
            <a:ext cx="4362031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⚙️</a:t>
            </a:r>
            <a:r>
              <a:rPr lang="en-US" sz="2777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Operational Efficiency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85979" y="7627353"/>
            <a:ext cx="742961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Identify patterns to improve business operations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17949" y="974855"/>
            <a:ext cx="2437714" cy="250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6"/>
              </a:lnSpc>
            </a:pPr>
            <a:r>
              <a:rPr lang="en-US" sz="1275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DATABASE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329490"/>
            <a:ext cx="6124442" cy="67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58"/>
              </a:lnSpc>
            </a:pPr>
            <a:r>
              <a:rPr lang="en-US" sz="4053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Database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2200675"/>
            <a:ext cx="17230954" cy="31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7 interlinked tables connected via primary and foreign keys. Below is the Entity Relationship Diagram.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78694" y="2848118"/>
            <a:ext cx="5913549" cy="1270197"/>
            <a:chOff x="0" y="0"/>
            <a:chExt cx="7884732" cy="16935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84668" cy="1693545"/>
            </a:xfrm>
            <a:custGeom>
              <a:avLst/>
              <a:gdLst/>
              <a:ahLst/>
              <a:cxnLst/>
              <a:rect r="r" b="b" t="t" l="l"/>
              <a:pathLst>
                <a:path h="1693545" w="7884668">
                  <a:moveTo>
                    <a:pt x="0" y="119380"/>
                  </a:moveTo>
                  <a:cubicBezTo>
                    <a:pt x="0" y="53467"/>
                    <a:pt x="53467" y="0"/>
                    <a:pt x="119380" y="0"/>
                  </a:cubicBezTo>
                  <a:lnTo>
                    <a:pt x="7765288" y="0"/>
                  </a:lnTo>
                  <a:cubicBezTo>
                    <a:pt x="7831201" y="0"/>
                    <a:pt x="7884668" y="53467"/>
                    <a:pt x="7884668" y="119380"/>
                  </a:cubicBezTo>
                  <a:lnTo>
                    <a:pt x="7884668" y="1574165"/>
                  </a:lnTo>
                  <a:cubicBezTo>
                    <a:pt x="7884668" y="1640078"/>
                    <a:pt x="7831201" y="1693545"/>
                    <a:pt x="7765288" y="1693545"/>
                  </a:cubicBezTo>
                  <a:lnTo>
                    <a:pt x="119380" y="1693545"/>
                  </a:lnTo>
                  <a:cubicBezTo>
                    <a:pt x="53467" y="1693545"/>
                    <a:pt x="0" y="1640078"/>
                    <a:pt x="0" y="1574165"/>
                  </a:cubicBezTo>
                  <a:close/>
                </a:path>
              </a:pathLst>
            </a:custGeom>
            <a:solidFill>
              <a:srgbClr val="272525"/>
            </a:solidFill>
            <a:ln w="28597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29954" y="3080337"/>
            <a:ext cx="2604678" cy="34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Customers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9954" y="3549367"/>
            <a:ext cx="5411019" cy="31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200 records — CustomerID, Name, Address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78694" y="4242683"/>
            <a:ext cx="5913549" cy="1559300"/>
            <a:chOff x="0" y="0"/>
            <a:chExt cx="7884732" cy="20790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84668" cy="2079117"/>
            </a:xfrm>
            <a:custGeom>
              <a:avLst/>
              <a:gdLst/>
              <a:ahLst/>
              <a:cxnLst/>
              <a:rect r="r" b="b" t="t" l="l"/>
              <a:pathLst>
                <a:path h="2079117" w="7884668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lnTo>
                    <a:pt x="7765796" y="0"/>
                  </a:lnTo>
                  <a:cubicBezTo>
                    <a:pt x="7831455" y="0"/>
                    <a:pt x="7884668" y="53213"/>
                    <a:pt x="7884668" y="118872"/>
                  </a:cubicBezTo>
                  <a:lnTo>
                    <a:pt x="7884668" y="1960245"/>
                  </a:lnTo>
                  <a:cubicBezTo>
                    <a:pt x="7884668" y="2025904"/>
                    <a:pt x="7831455" y="2079117"/>
                    <a:pt x="7765796" y="2079117"/>
                  </a:cubicBezTo>
                  <a:lnTo>
                    <a:pt x="118872" y="2079117"/>
                  </a:lnTo>
                  <a:cubicBezTo>
                    <a:pt x="53213" y="2079117"/>
                    <a:pt x="0" y="2025904"/>
                    <a:pt x="0" y="1960245"/>
                  </a:cubicBezTo>
                  <a:close/>
                </a:path>
              </a:pathLst>
            </a:custGeom>
            <a:solidFill>
              <a:srgbClr val="272525"/>
            </a:solidFill>
            <a:ln w="28597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229954" y="4474902"/>
            <a:ext cx="2604678" cy="34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Orders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9954" y="4943932"/>
            <a:ext cx="5411019" cy="6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300 records — Order_ID, Customer_ID, Emp_ID, OrderDate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78694" y="5926350"/>
            <a:ext cx="5913549" cy="1559300"/>
            <a:chOff x="0" y="0"/>
            <a:chExt cx="7884732" cy="20790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84668" cy="2079117"/>
            </a:xfrm>
            <a:custGeom>
              <a:avLst/>
              <a:gdLst/>
              <a:ahLst/>
              <a:cxnLst/>
              <a:rect r="r" b="b" t="t" l="l"/>
              <a:pathLst>
                <a:path h="2079117" w="7884668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lnTo>
                    <a:pt x="7765796" y="0"/>
                  </a:lnTo>
                  <a:cubicBezTo>
                    <a:pt x="7831455" y="0"/>
                    <a:pt x="7884668" y="53213"/>
                    <a:pt x="7884668" y="118872"/>
                  </a:cubicBezTo>
                  <a:lnTo>
                    <a:pt x="7884668" y="1960245"/>
                  </a:lnTo>
                  <a:cubicBezTo>
                    <a:pt x="7884668" y="2025904"/>
                    <a:pt x="7831455" y="2079117"/>
                    <a:pt x="7765796" y="2079117"/>
                  </a:cubicBezTo>
                  <a:lnTo>
                    <a:pt x="118872" y="2079117"/>
                  </a:lnTo>
                  <a:cubicBezTo>
                    <a:pt x="53213" y="2079117"/>
                    <a:pt x="0" y="2025904"/>
                    <a:pt x="0" y="1960245"/>
                  </a:cubicBezTo>
                  <a:close/>
                </a:path>
              </a:pathLst>
            </a:custGeom>
            <a:solidFill>
              <a:srgbClr val="272525"/>
            </a:solidFill>
            <a:ln w="28597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229954" y="6158570"/>
            <a:ext cx="2604678" cy="344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Order Details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9954" y="6627609"/>
            <a:ext cx="5411019" cy="60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600 records — Order_DetID, Order_ID, Product_ID, Qty, PriceEach, TotalPrice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78694" y="7610018"/>
            <a:ext cx="5913549" cy="1595790"/>
            <a:chOff x="0" y="0"/>
            <a:chExt cx="7884732" cy="21277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84795" cy="2127758"/>
            </a:xfrm>
            <a:custGeom>
              <a:avLst/>
              <a:gdLst/>
              <a:ahLst/>
              <a:cxnLst/>
              <a:rect r="r" b="b" t="t" l="l"/>
              <a:pathLst>
                <a:path h="2127758" w="7884795">
                  <a:moveTo>
                    <a:pt x="0" y="118872"/>
                  </a:moveTo>
                  <a:cubicBezTo>
                    <a:pt x="0" y="53213"/>
                    <a:pt x="53213" y="0"/>
                    <a:pt x="118872" y="0"/>
                  </a:cubicBezTo>
                  <a:lnTo>
                    <a:pt x="7765923" y="0"/>
                  </a:lnTo>
                  <a:cubicBezTo>
                    <a:pt x="7831582" y="0"/>
                    <a:pt x="7884795" y="53213"/>
                    <a:pt x="7884795" y="118872"/>
                  </a:cubicBezTo>
                  <a:lnTo>
                    <a:pt x="7884795" y="2008886"/>
                  </a:lnTo>
                  <a:cubicBezTo>
                    <a:pt x="7884795" y="2074545"/>
                    <a:pt x="7831582" y="2127758"/>
                    <a:pt x="7765923" y="2127758"/>
                  </a:cubicBezTo>
                  <a:lnTo>
                    <a:pt x="118872" y="2127758"/>
                  </a:lnTo>
                  <a:cubicBezTo>
                    <a:pt x="53213" y="2127758"/>
                    <a:pt x="0" y="2074545"/>
                    <a:pt x="0" y="2008886"/>
                  </a:cubicBezTo>
                  <a:close/>
                </a:path>
              </a:pathLst>
            </a:custGeom>
            <a:solidFill>
              <a:srgbClr val="272525"/>
            </a:solidFill>
            <a:ln w="28597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229954" y="7842237"/>
            <a:ext cx="5411019" cy="67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9"/>
              </a:lnSpc>
            </a:pPr>
            <a:r>
              <a:rPr lang="en-US" sz="2026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Products / Categories / Suppliers / Employees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9954" y="8636870"/>
            <a:ext cx="5411019" cy="317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4"/>
              </a:lnSpc>
            </a:pPr>
            <a:r>
              <a:rPr lang="en-US" sz="15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50 products · 5 categories · 5 suppliers · 10 employees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395658" y="2862415"/>
            <a:ext cx="6143206" cy="3860492"/>
            <a:chOff x="0" y="0"/>
            <a:chExt cx="8190941" cy="5147323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8190992" cy="5147310"/>
            </a:xfrm>
            <a:custGeom>
              <a:avLst/>
              <a:gdLst/>
              <a:ahLst/>
              <a:cxnLst/>
              <a:rect r="r" b="b" t="t" l="l"/>
              <a:pathLst>
                <a:path h="5147310" w="8190992">
                  <a:moveTo>
                    <a:pt x="0" y="0"/>
                  </a:moveTo>
                  <a:lnTo>
                    <a:pt x="8190992" y="0"/>
                  </a:lnTo>
                  <a:lnTo>
                    <a:pt x="8190992" y="5147310"/>
                  </a:lnTo>
                  <a:lnTo>
                    <a:pt x="0" y="5147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" t="0" r="-39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3393" y="952357"/>
            <a:ext cx="1588008" cy="15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sz="900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ANALYSIS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177261"/>
            <a:ext cx="4980727" cy="480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92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Sales &amp; Orders Trends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1848260"/>
            <a:ext cx="8408899" cy="24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9"/>
              </a:lnSpc>
            </a:pPr>
            <a:r>
              <a:rPr lang="en-US" sz="14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Analyze business performance through orders and revenue over time- SQL Query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2183225"/>
            <a:ext cx="7974140" cy="2662533"/>
            <a:chOff x="0" y="0"/>
            <a:chExt cx="10632186" cy="3550044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632186" cy="3550031"/>
            </a:xfrm>
            <a:custGeom>
              <a:avLst/>
              <a:gdLst/>
              <a:ahLst/>
              <a:cxnLst/>
              <a:rect r="r" b="b" t="t" l="l"/>
              <a:pathLst>
                <a:path h="3550031" w="10632186">
                  <a:moveTo>
                    <a:pt x="0" y="0"/>
                  </a:moveTo>
                  <a:lnTo>
                    <a:pt x="10632186" y="0"/>
                  </a:lnTo>
                  <a:lnTo>
                    <a:pt x="10632186" y="3550031"/>
                  </a:lnTo>
                  <a:lnTo>
                    <a:pt x="0" y="3550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" r="0" b="-94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991" y="4926197"/>
            <a:ext cx="3230528" cy="24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9"/>
              </a:lnSpc>
            </a:pPr>
            <a:r>
              <a:rPr lang="en-US" sz="14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Monthly Revenue- Result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991" y="5261162"/>
            <a:ext cx="5308244" cy="3459537"/>
            <a:chOff x="0" y="0"/>
            <a:chExt cx="7077659" cy="461271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077710" cy="4612767"/>
            </a:xfrm>
            <a:custGeom>
              <a:avLst/>
              <a:gdLst/>
              <a:ahLst/>
              <a:cxnLst/>
              <a:rect r="r" b="b" t="t" l="l"/>
              <a:pathLst>
                <a:path h="4612767" w="7077710">
                  <a:moveTo>
                    <a:pt x="0" y="0"/>
                  </a:moveTo>
                  <a:lnTo>
                    <a:pt x="7077710" y="0"/>
                  </a:lnTo>
                  <a:lnTo>
                    <a:pt x="7077710" y="4612767"/>
                  </a:lnTo>
                  <a:lnTo>
                    <a:pt x="0" y="4612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" t="0" r="-1" b="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344244" y="1848260"/>
            <a:ext cx="6989788" cy="24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9"/>
              </a:lnSpc>
            </a:pPr>
            <a:r>
              <a:rPr lang="en-US" sz="14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order patterns across weekdays and weekends? — Query &amp; Result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44244" y="2183225"/>
            <a:ext cx="7974140" cy="2542784"/>
            <a:chOff x="0" y="0"/>
            <a:chExt cx="10632186" cy="3390379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632186" cy="3390392"/>
            </a:xfrm>
            <a:custGeom>
              <a:avLst/>
              <a:gdLst/>
              <a:ahLst/>
              <a:cxnLst/>
              <a:rect r="r" b="b" t="t" l="l"/>
              <a:pathLst>
                <a:path h="3390392" w="10632186">
                  <a:moveTo>
                    <a:pt x="0" y="0"/>
                  </a:moveTo>
                  <a:lnTo>
                    <a:pt x="10632186" y="0"/>
                  </a:lnTo>
                  <a:lnTo>
                    <a:pt x="10632186" y="3390392"/>
                  </a:lnTo>
                  <a:lnTo>
                    <a:pt x="0" y="3390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8" r="0" b="-1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44244" y="4815973"/>
            <a:ext cx="4757766" cy="1497930"/>
            <a:chOff x="0" y="0"/>
            <a:chExt cx="6343688" cy="1997240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6343650" cy="1997202"/>
            </a:xfrm>
            <a:custGeom>
              <a:avLst/>
              <a:gdLst/>
              <a:ahLst/>
              <a:cxnLst/>
              <a:rect r="r" b="b" t="t" l="l"/>
              <a:pathLst>
                <a:path h="1997202" w="6343650">
                  <a:moveTo>
                    <a:pt x="0" y="0"/>
                  </a:moveTo>
                  <a:lnTo>
                    <a:pt x="6343650" y="0"/>
                  </a:lnTo>
                  <a:lnTo>
                    <a:pt x="6343650" y="1997202"/>
                  </a:lnTo>
                  <a:lnTo>
                    <a:pt x="0" y="1997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84" r="0" b="-18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344244" y="6394342"/>
            <a:ext cx="5071729" cy="24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9"/>
              </a:lnSpc>
            </a:pPr>
            <a:r>
              <a:rPr lang="en-US" sz="1426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Monthly Volume &amp; Revenue — Query &amp; Result</a:t>
            </a:r>
          </a:p>
        </p:txBody>
      </p:sp>
      <p:sp>
        <p:nvSpPr>
          <p:cNvPr name="Freeform 20" id="20" descr="preencoded.png"/>
          <p:cNvSpPr/>
          <p:nvPr/>
        </p:nvSpPr>
        <p:spPr>
          <a:xfrm flipH="false" flipV="false" rot="0">
            <a:off x="973922" y="8881558"/>
            <a:ext cx="8126949" cy="515645"/>
          </a:xfrm>
          <a:custGeom>
            <a:avLst/>
            <a:gdLst/>
            <a:ahLst/>
            <a:cxnLst/>
            <a:rect r="r" b="b" t="t" l="l"/>
            <a:pathLst>
              <a:path h="515645" w="8126949">
                <a:moveTo>
                  <a:pt x="0" y="0"/>
                </a:moveTo>
                <a:lnTo>
                  <a:pt x="8126949" y="0"/>
                </a:lnTo>
                <a:lnTo>
                  <a:pt x="8126949" y="515645"/>
                </a:lnTo>
                <a:lnTo>
                  <a:pt x="0" y="515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675" r="0" b="-1673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181843" y="8891102"/>
            <a:ext cx="2211772" cy="25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9"/>
              </a:lnSpc>
            </a:pPr>
            <a:r>
              <a:rPr lang="en-US" sz="142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📅</a:t>
            </a:r>
            <a:r>
              <a:rPr lang="en-US" sz="1426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Top Revenue Months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1843" y="9184072"/>
            <a:ext cx="7919028" cy="19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8"/>
              </a:lnSpc>
            </a:pPr>
            <a:r>
              <a:rPr lang="en-US" sz="1125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January 2022 (₹70,312) · February 2022 (₹66,929) · December 2022 (₹60,903)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181900" y="8881558"/>
            <a:ext cx="8126949" cy="515645"/>
          </a:xfrm>
          <a:custGeom>
            <a:avLst/>
            <a:gdLst/>
            <a:ahLst/>
            <a:cxnLst/>
            <a:rect r="r" b="b" t="t" l="l"/>
            <a:pathLst>
              <a:path h="515645" w="8126949">
                <a:moveTo>
                  <a:pt x="0" y="0"/>
                </a:moveTo>
                <a:lnTo>
                  <a:pt x="8126949" y="0"/>
                </a:lnTo>
                <a:lnTo>
                  <a:pt x="8126949" y="515645"/>
                </a:lnTo>
                <a:lnTo>
                  <a:pt x="0" y="5156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1675" r="0" b="-1673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389821" y="8891102"/>
            <a:ext cx="1926698" cy="25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9"/>
              </a:lnSpc>
            </a:pPr>
            <a:r>
              <a:rPr lang="en-US" sz="1426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📦</a:t>
            </a:r>
            <a:r>
              <a:rPr lang="en-US" sz="1426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Order Distribution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89821" y="9184072"/>
            <a:ext cx="7919028" cy="19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8"/>
              </a:lnSpc>
            </a:pPr>
            <a:r>
              <a:rPr lang="en-US" sz="1125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300 total orders · Weekdays: 183 orders · Weekends: 73 orders · April, June &amp; October saw the lowest revenue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8030" y="813245"/>
            <a:ext cx="1571025" cy="14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ANALYSIS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010602"/>
            <a:ext cx="4954514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Employee Performance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1650159"/>
            <a:ext cx="7984865" cy="44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How many employees have processed ORDERS? WHICH employees have handled the most orders? — Query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2173100"/>
            <a:ext cx="5448405" cy="3255931"/>
            <a:chOff x="0" y="0"/>
            <a:chExt cx="7264540" cy="434124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7264527" cy="4341241"/>
            </a:xfrm>
            <a:custGeom>
              <a:avLst/>
              <a:gdLst/>
              <a:ahLst/>
              <a:cxnLst/>
              <a:rect r="r" b="b" t="t" l="l"/>
              <a:pathLst>
                <a:path h="4341241" w="7264527">
                  <a:moveTo>
                    <a:pt x="0" y="0"/>
                  </a:moveTo>
                  <a:lnTo>
                    <a:pt x="7264527" y="0"/>
                  </a:lnTo>
                  <a:lnTo>
                    <a:pt x="7264527" y="4341241"/>
                  </a:lnTo>
                  <a:lnTo>
                    <a:pt x="0" y="4341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" r="0" b="-25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2991" y="5508708"/>
            <a:ext cx="4536291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employees handled most  orders — Result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2991" y="5810031"/>
            <a:ext cx="6469094" cy="3255931"/>
            <a:chOff x="0" y="0"/>
            <a:chExt cx="8625459" cy="434124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625459" cy="4341241"/>
            </a:xfrm>
            <a:custGeom>
              <a:avLst/>
              <a:gdLst/>
              <a:ahLst/>
              <a:cxnLst/>
              <a:rect r="r" b="b" t="t" l="l"/>
              <a:pathLst>
                <a:path h="4341241" w="8625459">
                  <a:moveTo>
                    <a:pt x="0" y="0"/>
                  </a:moveTo>
                  <a:lnTo>
                    <a:pt x="8625459" y="0"/>
                  </a:lnTo>
                  <a:lnTo>
                    <a:pt x="8625459" y="4341241"/>
                  </a:lnTo>
                  <a:lnTo>
                    <a:pt x="0" y="4341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7" r="0" b="-37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333519" y="1650159"/>
            <a:ext cx="3877970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Total Sales per Employee — Query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33519" y="1951472"/>
            <a:ext cx="6623695" cy="2456097"/>
            <a:chOff x="0" y="0"/>
            <a:chExt cx="8831593" cy="327479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8831580" cy="3274822"/>
            </a:xfrm>
            <a:custGeom>
              <a:avLst/>
              <a:gdLst/>
              <a:ahLst/>
              <a:cxnLst/>
              <a:rect r="r" b="b" t="t" l="l"/>
              <a:pathLst>
                <a:path h="3274822" w="8831580">
                  <a:moveTo>
                    <a:pt x="0" y="0"/>
                  </a:moveTo>
                  <a:lnTo>
                    <a:pt x="8831580" y="0"/>
                  </a:lnTo>
                  <a:lnTo>
                    <a:pt x="8831580" y="3274822"/>
                  </a:lnTo>
                  <a:lnTo>
                    <a:pt x="0" y="3274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6" r="0" b="-55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333519" y="4487247"/>
            <a:ext cx="3503238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EMPLOYEE Sales Value Result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33519" y="4788570"/>
            <a:ext cx="3899125" cy="3255931"/>
            <a:chOff x="0" y="0"/>
            <a:chExt cx="5198834" cy="4341241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5198872" cy="4341241"/>
            </a:xfrm>
            <a:custGeom>
              <a:avLst/>
              <a:gdLst/>
              <a:ahLst/>
              <a:cxnLst/>
              <a:rect r="r" b="b" t="t" l="l"/>
              <a:pathLst>
                <a:path h="4341241" w="5198872">
                  <a:moveTo>
                    <a:pt x="0" y="0"/>
                  </a:moveTo>
                  <a:lnTo>
                    <a:pt x="5198872" y="0"/>
                  </a:lnTo>
                  <a:lnTo>
                    <a:pt x="5198872" y="4341241"/>
                  </a:lnTo>
                  <a:lnTo>
                    <a:pt x="0" y="4341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3" t="0" r="-52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8219" y="9220562"/>
            <a:ext cx="5400894" cy="756037"/>
            <a:chOff x="0" y="0"/>
            <a:chExt cx="7201192" cy="10080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01281" cy="1008126"/>
            </a:xfrm>
            <a:custGeom>
              <a:avLst/>
              <a:gdLst/>
              <a:ahLst/>
              <a:cxnLst/>
              <a:rect r="r" b="b" t="t" l="l"/>
              <a:pathLst>
                <a:path h="1008126" w="7201281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7120763" y="0"/>
                  </a:lnTo>
                  <a:cubicBezTo>
                    <a:pt x="7165213" y="0"/>
                    <a:pt x="7201281" y="36068"/>
                    <a:pt x="7201281" y="80518"/>
                  </a:cubicBezTo>
                  <a:lnTo>
                    <a:pt x="7201281" y="927608"/>
                  </a:lnTo>
                  <a:cubicBezTo>
                    <a:pt x="7201281" y="972058"/>
                    <a:pt x="7165213" y="1008126"/>
                    <a:pt x="7120763" y="1008126"/>
                  </a:cubicBezTo>
                  <a:lnTo>
                    <a:pt x="80518" y="1008126"/>
                  </a:lnTo>
                  <a:cubicBezTo>
                    <a:pt x="36068" y="1007999"/>
                    <a:pt x="0" y="972058"/>
                    <a:pt x="0" y="927608"/>
                  </a:cubicBezTo>
                  <a:close/>
                </a:path>
              </a:pathLst>
            </a:custGeom>
            <a:solidFill>
              <a:srgbClr val="110080"/>
            </a:solidFill>
            <a:ln w="9532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44314" y="9376648"/>
            <a:ext cx="2078612" cy="23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🏆</a:t>
            </a:r>
            <a:r>
              <a:rPr lang="en-US" sz="1351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Top by Order Volume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4314" y="9650263"/>
            <a:ext cx="5088712" cy="17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Diya Sharma (38) · Aditya Singh (37) · Arjun Kumar (32)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450473" y="9220562"/>
            <a:ext cx="5400894" cy="756037"/>
            <a:chOff x="0" y="0"/>
            <a:chExt cx="7201192" cy="10080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01281" cy="1008126"/>
            </a:xfrm>
            <a:custGeom>
              <a:avLst/>
              <a:gdLst/>
              <a:ahLst/>
              <a:cxnLst/>
              <a:rect r="r" b="b" t="t" l="l"/>
              <a:pathLst>
                <a:path h="1008126" w="7201281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7120763" y="0"/>
                  </a:lnTo>
                  <a:cubicBezTo>
                    <a:pt x="7165213" y="0"/>
                    <a:pt x="7201281" y="36068"/>
                    <a:pt x="7201281" y="80518"/>
                  </a:cubicBezTo>
                  <a:lnTo>
                    <a:pt x="7201281" y="927608"/>
                  </a:lnTo>
                  <a:cubicBezTo>
                    <a:pt x="7201281" y="972058"/>
                    <a:pt x="7165213" y="1008126"/>
                    <a:pt x="7120763" y="1008126"/>
                  </a:cubicBezTo>
                  <a:lnTo>
                    <a:pt x="80518" y="1008126"/>
                  </a:lnTo>
                  <a:cubicBezTo>
                    <a:pt x="36068" y="1007999"/>
                    <a:pt x="0" y="972058"/>
                    <a:pt x="0" y="927608"/>
                  </a:cubicBezTo>
                  <a:close/>
                </a:path>
              </a:pathLst>
            </a:custGeom>
            <a:solidFill>
              <a:srgbClr val="110080"/>
            </a:solidFill>
            <a:ln w="9532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6606569" y="9376648"/>
            <a:ext cx="1889312" cy="23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💰</a:t>
            </a:r>
            <a:r>
              <a:rPr lang="en-US" sz="1351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Top by Sales Value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606569" y="9650263"/>
            <a:ext cx="5088712" cy="17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Aditya Singh generated the highest revenue at ₹79,252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1912727" y="9220562"/>
            <a:ext cx="5400894" cy="756037"/>
            <a:chOff x="0" y="0"/>
            <a:chExt cx="7201192" cy="10080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01281" cy="1008126"/>
            </a:xfrm>
            <a:custGeom>
              <a:avLst/>
              <a:gdLst/>
              <a:ahLst/>
              <a:cxnLst/>
              <a:rect r="r" b="b" t="t" l="l"/>
              <a:pathLst>
                <a:path h="1008126" w="7201281">
                  <a:moveTo>
                    <a:pt x="0" y="80518"/>
                  </a:moveTo>
                  <a:cubicBezTo>
                    <a:pt x="0" y="36068"/>
                    <a:pt x="36068" y="0"/>
                    <a:pt x="80518" y="0"/>
                  </a:cubicBezTo>
                  <a:lnTo>
                    <a:pt x="7120763" y="0"/>
                  </a:lnTo>
                  <a:cubicBezTo>
                    <a:pt x="7165213" y="0"/>
                    <a:pt x="7201281" y="36068"/>
                    <a:pt x="7201281" y="80518"/>
                  </a:cubicBezTo>
                  <a:lnTo>
                    <a:pt x="7201281" y="927608"/>
                  </a:lnTo>
                  <a:cubicBezTo>
                    <a:pt x="7201281" y="972058"/>
                    <a:pt x="7165213" y="1008126"/>
                    <a:pt x="7120763" y="1008126"/>
                  </a:cubicBezTo>
                  <a:lnTo>
                    <a:pt x="80518" y="1008126"/>
                  </a:lnTo>
                  <a:cubicBezTo>
                    <a:pt x="36068" y="1007999"/>
                    <a:pt x="0" y="972058"/>
                    <a:pt x="0" y="927608"/>
                  </a:cubicBezTo>
                  <a:close/>
                </a:path>
              </a:pathLst>
            </a:custGeom>
            <a:solidFill>
              <a:srgbClr val="110080"/>
            </a:solidFill>
            <a:ln w="9532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12068823" y="9376648"/>
            <a:ext cx="2582780" cy="23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📊</a:t>
            </a:r>
            <a:r>
              <a:rPr lang="en-US" sz="1351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Avg Order Value/Employee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068823" y="9650263"/>
            <a:ext cx="5088712" cy="17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Ranges from ₹1,554 to ₹2,768 across 10 employees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8030" y="813245"/>
            <a:ext cx="1571920" cy="14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ANALYSIS 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010602"/>
            <a:ext cx="4461815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Supplier Analysis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1650159"/>
            <a:ext cx="5682986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supplier provides the most products? — Query &amp; Result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1951472"/>
            <a:ext cx="6632629" cy="3094615"/>
            <a:chOff x="0" y="0"/>
            <a:chExt cx="8843505" cy="4126154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843518" cy="4126103"/>
            </a:xfrm>
            <a:custGeom>
              <a:avLst/>
              <a:gdLst/>
              <a:ahLst/>
              <a:cxnLst/>
              <a:rect r="r" b="b" t="t" l="l"/>
              <a:pathLst>
                <a:path h="4126103" w="8843518">
                  <a:moveTo>
                    <a:pt x="0" y="0"/>
                  </a:moveTo>
                  <a:lnTo>
                    <a:pt x="8843518" y="0"/>
                  </a:lnTo>
                  <a:lnTo>
                    <a:pt x="8843518" y="4126103"/>
                  </a:lnTo>
                  <a:lnTo>
                    <a:pt x="0" y="4126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0" r="0" b="-4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92991" y="5125774"/>
            <a:ext cx="3413722" cy="806834"/>
            <a:chOff x="0" y="0"/>
            <a:chExt cx="4551629" cy="107577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551680" cy="1075817"/>
            </a:xfrm>
            <a:custGeom>
              <a:avLst/>
              <a:gdLst/>
              <a:ahLst/>
              <a:cxnLst/>
              <a:rect r="r" b="b" t="t" l="l"/>
              <a:pathLst>
                <a:path h="1075817" w="4551680">
                  <a:moveTo>
                    <a:pt x="0" y="0"/>
                  </a:moveTo>
                  <a:lnTo>
                    <a:pt x="4551680" y="0"/>
                  </a:lnTo>
                  <a:lnTo>
                    <a:pt x="4551680" y="1075817"/>
                  </a:lnTo>
                  <a:lnTo>
                    <a:pt x="0" y="10758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88" r="1" b="-8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991" y="6012294"/>
            <a:ext cx="4379757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Avg Price per Supplier — Query &amp; Result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2991" y="6313608"/>
            <a:ext cx="7164648" cy="2030559"/>
            <a:chOff x="0" y="0"/>
            <a:chExt cx="9552864" cy="2707411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9552813" cy="2707386"/>
            </a:xfrm>
            <a:custGeom>
              <a:avLst/>
              <a:gdLst/>
              <a:ahLst/>
              <a:cxnLst/>
              <a:rect r="r" b="b" t="t" l="l"/>
              <a:pathLst>
                <a:path h="2707386" w="9552813">
                  <a:moveTo>
                    <a:pt x="0" y="0"/>
                  </a:moveTo>
                  <a:lnTo>
                    <a:pt x="9552813" y="0"/>
                  </a:lnTo>
                  <a:lnTo>
                    <a:pt x="9552813" y="2707386"/>
                  </a:lnTo>
                  <a:lnTo>
                    <a:pt x="0" y="2707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04" r="0" b="-20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92991" y="8423853"/>
            <a:ext cx="4291584" cy="1622603"/>
            <a:chOff x="0" y="0"/>
            <a:chExt cx="5722112" cy="216347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5722112" cy="2163445"/>
            </a:xfrm>
            <a:custGeom>
              <a:avLst/>
              <a:gdLst/>
              <a:ahLst/>
              <a:cxnLst/>
              <a:rect r="r" b="b" t="t" l="l"/>
              <a:pathLst>
                <a:path h="2163445" w="5722112">
                  <a:moveTo>
                    <a:pt x="0" y="0"/>
                  </a:moveTo>
                  <a:lnTo>
                    <a:pt x="5722112" y="0"/>
                  </a:lnTo>
                  <a:lnTo>
                    <a:pt x="5722112" y="2163445"/>
                  </a:lnTo>
                  <a:lnTo>
                    <a:pt x="0" y="21634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41" r="0" b="-14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333519" y="1650159"/>
            <a:ext cx="5917568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Revenue by Supplier (Window Function) — Query &amp; Result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33519" y="1951472"/>
            <a:ext cx="6058910" cy="3255931"/>
            <a:chOff x="0" y="0"/>
            <a:chExt cx="8078546" cy="4341241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8078597" cy="4341241"/>
            </a:xfrm>
            <a:custGeom>
              <a:avLst/>
              <a:gdLst/>
              <a:ahLst/>
              <a:cxnLst/>
              <a:rect r="r" b="b" t="t" l="l"/>
              <a:pathLst>
                <a:path h="4341241" w="8078597">
                  <a:moveTo>
                    <a:pt x="0" y="0"/>
                  </a:moveTo>
                  <a:lnTo>
                    <a:pt x="8078597" y="0"/>
                  </a:lnTo>
                  <a:lnTo>
                    <a:pt x="8078597" y="4341241"/>
                  </a:lnTo>
                  <a:lnTo>
                    <a:pt x="0" y="4341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3" r="0" b="-3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33519" y="5287080"/>
            <a:ext cx="3759565" cy="939841"/>
            <a:chOff x="0" y="0"/>
            <a:chExt cx="5012754" cy="1253122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5012690" cy="1253109"/>
            </a:xfrm>
            <a:custGeom>
              <a:avLst/>
              <a:gdLst/>
              <a:ahLst/>
              <a:cxnLst/>
              <a:rect r="r" b="b" t="t" l="l"/>
              <a:pathLst>
                <a:path h="1253109" w="5012690">
                  <a:moveTo>
                    <a:pt x="0" y="0"/>
                  </a:moveTo>
                  <a:lnTo>
                    <a:pt x="5012690" y="0"/>
                  </a:lnTo>
                  <a:lnTo>
                    <a:pt x="5012690" y="1253109"/>
                  </a:lnTo>
                  <a:lnTo>
                    <a:pt x="0" y="1253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29" r="-1" b="-129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23994" y="6297073"/>
            <a:ext cx="3975973" cy="813092"/>
            <a:chOff x="0" y="0"/>
            <a:chExt cx="5301298" cy="10841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01361" cy="1084199"/>
            </a:xfrm>
            <a:custGeom>
              <a:avLst/>
              <a:gdLst/>
              <a:ahLst/>
              <a:cxnLst/>
              <a:rect r="r" b="b" t="t" l="l"/>
              <a:pathLst>
                <a:path h="1084199" w="5301361">
                  <a:moveTo>
                    <a:pt x="0" y="81407"/>
                  </a:moveTo>
                  <a:cubicBezTo>
                    <a:pt x="0" y="36449"/>
                    <a:pt x="36449" y="0"/>
                    <a:pt x="81407" y="0"/>
                  </a:cubicBezTo>
                  <a:lnTo>
                    <a:pt x="5219954" y="0"/>
                  </a:lnTo>
                  <a:cubicBezTo>
                    <a:pt x="5264912" y="0"/>
                    <a:pt x="5301361" y="36449"/>
                    <a:pt x="5301361" y="81407"/>
                  </a:cubicBezTo>
                  <a:lnTo>
                    <a:pt x="5301361" y="1002792"/>
                  </a:lnTo>
                  <a:cubicBezTo>
                    <a:pt x="5301361" y="1047750"/>
                    <a:pt x="5264912" y="1084199"/>
                    <a:pt x="5219954" y="1084199"/>
                  </a:cubicBezTo>
                  <a:lnTo>
                    <a:pt x="81407" y="1084199"/>
                  </a:lnTo>
                  <a:cubicBezTo>
                    <a:pt x="36449" y="1084072"/>
                    <a:pt x="0" y="1047750"/>
                    <a:pt x="0" y="1002792"/>
                  </a:cubicBezTo>
                  <a:close/>
                </a:path>
              </a:pathLst>
            </a:custGeom>
            <a:solidFill>
              <a:srgbClr val="272525"/>
            </a:solidFill>
            <a:ln w="19065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494377" y="6467465"/>
            <a:ext cx="1773288" cy="23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🏅</a:t>
            </a:r>
            <a:r>
              <a:rPr lang="en-US" sz="1351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Most Products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494377" y="6769522"/>
            <a:ext cx="3635197" cy="17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Aarya — 18 products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351793" y="6297073"/>
            <a:ext cx="3976126" cy="813092"/>
            <a:chOff x="0" y="0"/>
            <a:chExt cx="5301501" cy="10841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01615" cy="1084199"/>
            </a:xfrm>
            <a:custGeom>
              <a:avLst/>
              <a:gdLst/>
              <a:ahLst/>
              <a:cxnLst/>
              <a:rect r="r" b="b" t="t" l="l"/>
              <a:pathLst>
                <a:path h="1084199" w="5301615">
                  <a:moveTo>
                    <a:pt x="0" y="81407"/>
                  </a:moveTo>
                  <a:cubicBezTo>
                    <a:pt x="0" y="36449"/>
                    <a:pt x="36449" y="0"/>
                    <a:pt x="81407" y="0"/>
                  </a:cubicBezTo>
                  <a:lnTo>
                    <a:pt x="5220208" y="0"/>
                  </a:lnTo>
                  <a:cubicBezTo>
                    <a:pt x="5265166" y="0"/>
                    <a:pt x="5301615" y="36449"/>
                    <a:pt x="5301615" y="81407"/>
                  </a:cubicBezTo>
                  <a:lnTo>
                    <a:pt x="5301615" y="1002792"/>
                  </a:lnTo>
                  <a:cubicBezTo>
                    <a:pt x="5301615" y="1047750"/>
                    <a:pt x="5265166" y="1084199"/>
                    <a:pt x="5220208" y="1084199"/>
                  </a:cubicBezTo>
                  <a:lnTo>
                    <a:pt x="81407" y="1084199"/>
                  </a:lnTo>
                  <a:cubicBezTo>
                    <a:pt x="36449" y="1084072"/>
                    <a:pt x="0" y="1047750"/>
                    <a:pt x="0" y="1002792"/>
                  </a:cubicBezTo>
                  <a:close/>
                </a:path>
              </a:pathLst>
            </a:custGeom>
            <a:solidFill>
              <a:srgbClr val="272525"/>
            </a:solidFill>
            <a:ln w="19065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3522185" y="6467465"/>
            <a:ext cx="1773288" cy="23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💰</a:t>
            </a:r>
            <a:r>
              <a:rPr lang="en-US" sz="1351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Highest Revenue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522185" y="6769522"/>
            <a:ext cx="3635350" cy="17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Aarya — ₹2,21,138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323994" y="7162000"/>
            <a:ext cx="3975973" cy="813092"/>
            <a:chOff x="0" y="0"/>
            <a:chExt cx="5301298" cy="108412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301361" cy="1084199"/>
            </a:xfrm>
            <a:custGeom>
              <a:avLst/>
              <a:gdLst/>
              <a:ahLst/>
              <a:cxnLst/>
              <a:rect r="r" b="b" t="t" l="l"/>
              <a:pathLst>
                <a:path h="1084199" w="5301361">
                  <a:moveTo>
                    <a:pt x="0" y="81407"/>
                  </a:moveTo>
                  <a:cubicBezTo>
                    <a:pt x="0" y="36449"/>
                    <a:pt x="36449" y="0"/>
                    <a:pt x="81407" y="0"/>
                  </a:cubicBezTo>
                  <a:lnTo>
                    <a:pt x="5219954" y="0"/>
                  </a:lnTo>
                  <a:cubicBezTo>
                    <a:pt x="5264912" y="0"/>
                    <a:pt x="5301361" y="36449"/>
                    <a:pt x="5301361" y="81407"/>
                  </a:cubicBezTo>
                  <a:lnTo>
                    <a:pt x="5301361" y="1002792"/>
                  </a:lnTo>
                  <a:cubicBezTo>
                    <a:pt x="5301361" y="1047750"/>
                    <a:pt x="5264912" y="1084199"/>
                    <a:pt x="5219954" y="1084199"/>
                  </a:cubicBezTo>
                  <a:lnTo>
                    <a:pt x="81407" y="1084199"/>
                  </a:lnTo>
                  <a:cubicBezTo>
                    <a:pt x="36449" y="1084072"/>
                    <a:pt x="0" y="1047750"/>
                    <a:pt x="0" y="1002792"/>
                  </a:cubicBezTo>
                  <a:close/>
                </a:path>
              </a:pathLst>
            </a:custGeom>
            <a:solidFill>
              <a:srgbClr val="272525"/>
            </a:solidFill>
            <a:ln w="19065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494377" y="7332393"/>
            <a:ext cx="1773288" cy="23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💸</a:t>
            </a:r>
            <a:r>
              <a:rPr lang="en-US" sz="1351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Lowest Avg Price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94377" y="7634449"/>
            <a:ext cx="3635197" cy="17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Aarav Sharma (Budget-friendly)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351793" y="7162000"/>
            <a:ext cx="3976126" cy="813092"/>
            <a:chOff x="0" y="0"/>
            <a:chExt cx="5301501" cy="108412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01615" cy="1084199"/>
            </a:xfrm>
            <a:custGeom>
              <a:avLst/>
              <a:gdLst/>
              <a:ahLst/>
              <a:cxnLst/>
              <a:rect r="r" b="b" t="t" l="l"/>
              <a:pathLst>
                <a:path h="1084199" w="5301615">
                  <a:moveTo>
                    <a:pt x="0" y="81407"/>
                  </a:moveTo>
                  <a:cubicBezTo>
                    <a:pt x="0" y="36449"/>
                    <a:pt x="36449" y="0"/>
                    <a:pt x="81407" y="0"/>
                  </a:cubicBezTo>
                  <a:lnTo>
                    <a:pt x="5220208" y="0"/>
                  </a:lnTo>
                  <a:cubicBezTo>
                    <a:pt x="5265166" y="0"/>
                    <a:pt x="5301615" y="36449"/>
                    <a:pt x="5301615" y="81407"/>
                  </a:cubicBezTo>
                  <a:lnTo>
                    <a:pt x="5301615" y="1002792"/>
                  </a:lnTo>
                  <a:cubicBezTo>
                    <a:pt x="5301615" y="1047750"/>
                    <a:pt x="5265166" y="1084199"/>
                    <a:pt x="5220208" y="1084199"/>
                  </a:cubicBezTo>
                  <a:lnTo>
                    <a:pt x="81407" y="1084199"/>
                  </a:lnTo>
                  <a:cubicBezTo>
                    <a:pt x="36449" y="1084072"/>
                    <a:pt x="0" y="1047750"/>
                    <a:pt x="0" y="1002792"/>
                  </a:cubicBezTo>
                  <a:close/>
                </a:path>
              </a:pathLst>
            </a:custGeom>
            <a:solidFill>
              <a:srgbClr val="272525"/>
            </a:solidFill>
            <a:ln w="19065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3522185" y="7332393"/>
            <a:ext cx="1800244" cy="23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💎</a:t>
            </a:r>
            <a:r>
              <a:rPr lang="en-US" sz="1351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Highest Avg Price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22185" y="7634449"/>
            <a:ext cx="3635350" cy="17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Sai — Premium pricing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8030" y="902760"/>
            <a:ext cx="1575197" cy="14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ANALYSIS 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100118"/>
            <a:ext cx="5765940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Product &amp; Category Insights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1739675"/>
            <a:ext cx="4418771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Products per Category — Query &amp; Result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2040988"/>
            <a:ext cx="6047289" cy="2686660"/>
            <a:chOff x="0" y="0"/>
            <a:chExt cx="8063052" cy="3582213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063103" cy="3582162"/>
            </a:xfrm>
            <a:custGeom>
              <a:avLst/>
              <a:gdLst/>
              <a:ahLst/>
              <a:cxnLst/>
              <a:rect r="r" b="b" t="t" l="l"/>
              <a:pathLst>
                <a:path h="3582162" w="8063103">
                  <a:moveTo>
                    <a:pt x="0" y="0"/>
                  </a:moveTo>
                  <a:lnTo>
                    <a:pt x="8063103" y="0"/>
                  </a:lnTo>
                  <a:lnTo>
                    <a:pt x="8063103" y="3582162"/>
                  </a:lnTo>
                  <a:lnTo>
                    <a:pt x="0" y="3582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t="0" r="-19" b="-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92991" y="4807334"/>
            <a:ext cx="4664078" cy="1702432"/>
            <a:chOff x="0" y="0"/>
            <a:chExt cx="6218771" cy="2269909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6218809" cy="2269871"/>
            </a:xfrm>
            <a:custGeom>
              <a:avLst/>
              <a:gdLst/>
              <a:ahLst/>
              <a:cxnLst/>
              <a:rect r="r" b="b" t="t" l="l"/>
              <a:pathLst>
                <a:path h="2269871" w="6218809">
                  <a:moveTo>
                    <a:pt x="0" y="0"/>
                  </a:moveTo>
                  <a:lnTo>
                    <a:pt x="6218809" y="0"/>
                  </a:lnTo>
                  <a:lnTo>
                    <a:pt x="6218809" y="2269871"/>
                  </a:lnTo>
                  <a:lnTo>
                    <a:pt x="0" y="2269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" r="0" b="-41"/>
              </a:stretch>
            </a:blip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973922" y="6570393"/>
            <a:ext cx="8003924" cy="500901"/>
          </a:xfrm>
          <a:custGeom>
            <a:avLst/>
            <a:gdLst/>
            <a:ahLst/>
            <a:cxnLst/>
            <a:rect r="r" b="b" t="t" l="l"/>
            <a:pathLst>
              <a:path h="500901" w="8003924">
                <a:moveTo>
                  <a:pt x="0" y="0"/>
                </a:moveTo>
                <a:lnTo>
                  <a:pt x="8003924" y="0"/>
                </a:lnTo>
                <a:lnTo>
                  <a:pt x="8003924" y="500900"/>
                </a:lnTo>
                <a:lnTo>
                  <a:pt x="0" y="500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300" r="0" b="-130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72908" y="6589452"/>
            <a:ext cx="1820351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Category Breakdown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72908" y="6881984"/>
            <a:ext cx="7804947" cy="17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Grains &amp; Cereals (18) · Snacks &amp; Confectioneries (17) · Dairy Products (6) · Personal Care (6) · Household (3)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33519" y="1739675"/>
            <a:ext cx="4962411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Sales by Category &amp; Supplier — Query &amp; Result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33519" y="2040988"/>
            <a:ext cx="5890012" cy="3255931"/>
            <a:chOff x="0" y="0"/>
            <a:chExt cx="7853350" cy="4341241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7853299" cy="4341241"/>
            </a:xfrm>
            <a:custGeom>
              <a:avLst/>
              <a:gdLst/>
              <a:ahLst/>
              <a:cxnLst/>
              <a:rect r="r" b="b" t="t" l="l"/>
              <a:pathLst>
                <a:path h="4341241" w="7853299">
                  <a:moveTo>
                    <a:pt x="0" y="0"/>
                  </a:moveTo>
                  <a:lnTo>
                    <a:pt x="7853299" y="0"/>
                  </a:lnTo>
                  <a:lnTo>
                    <a:pt x="7853299" y="4341241"/>
                  </a:lnTo>
                  <a:lnTo>
                    <a:pt x="0" y="4341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5" r="0" b="-55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33519" y="5376596"/>
            <a:ext cx="5944372" cy="3256074"/>
            <a:chOff x="0" y="0"/>
            <a:chExt cx="7925829" cy="434143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7925816" cy="4341495"/>
            </a:xfrm>
            <a:custGeom>
              <a:avLst/>
              <a:gdLst/>
              <a:ahLst/>
              <a:cxnLst/>
              <a:rect r="r" b="b" t="t" l="l"/>
              <a:pathLst>
                <a:path h="4341495" w="7925816">
                  <a:moveTo>
                    <a:pt x="0" y="0"/>
                  </a:moveTo>
                  <a:lnTo>
                    <a:pt x="7925816" y="0"/>
                  </a:lnTo>
                  <a:lnTo>
                    <a:pt x="7925816" y="4341495"/>
                  </a:lnTo>
                  <a:lnTo>
                    <a:pt x="0" y="434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9" r="0" b="-27"/>
              </a:stretch>
            </a:blipFill>
          </p:spPr>
        </p:sp>
      </p:grpSp>
      <p:sp>
        <p:nvSpPr>
          <p:cNvPr name="Freeform 21" id="21" descr="preencoded.png"/>
          <p:cNvSpPr/>
          <p:nvPr/>
        </p:nvSpPr>
        <p:spPr>
          <a:xfrm flipH="false" flipV="false" rot="0">
            <a:off x="9314459" y="8693296"/>
            <a:ext cx="8003924" cy="671141"/>
          </a:xfrm>
          <a:custGeom>
            <a:avLst/>
            <a:gdLst/>
            <a:ahLst/>
            <a:cxnLst/>
            <a:rect r="r" b="b" t="t" l="l"/>
            <a:pathLst>
              <a:path h="671141" w="8003924">
                <a:moveTo>
                  <a:pt x="0" y="0"/>
                </a:moveTo>
                <a:lnTo>
                  <a:pt x="8003925" y="0"/>
                </a:lnTo>
                <a:lnTo>
                  <a:pt x="8003925" y="671141"/>
                </a:lnTo>
                <a:lnTo>
                  <a:pt x="0" y="6711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050" r="0" b="-105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513446" y="8712356"/>
            <a:ext cx="2269112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Top Supplier per Category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13446" y="9004887"/>
            <a:ext cx="7804947" cy="34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Grains &amp; Cereals: Aarya (₹67,701) · Dairy: Sai (₹50,740) · Snacks: Aarya (₹65,538) · Personal Care: Aarya (₹69,378) · Household: Karthik (₹22,767)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8030" y="813245"/>
            <a:ext cx="1569091" cy="145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"/>
              </a:lnSpc>
            </a:pPr>
            <a:r>
              <a:rPr lang="en-US" sz="825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ANALYSIS 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010602"/>
            <a:ext cx="5784409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Customer Behavior Patterns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991" y="1650159"/>
            <a:ext cx="4670184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Top Customers by Orders — Query &amp; Result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991" y="1951472"/>
            <a:ext cx="6011847" cy="2349751"/>
            <a:chOff x="0" y="0"/>
            <a:chExt cx="8015796" cy="3133001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8015732" cy="3132963"/>
            </a:xfrm>
            <a:custGeom>
              <a:avLst/>
              <a:gdLst/>
              <a:ahLst/>
              <a:cxnLst/>
              <a:rect r="r" b="b" t="t" l="l"/>
              <a:pathLst>
                <a:path h="3132963" w="8015732">
                  <a:moveTo>
                    <a:pt x="0" y="0"/>
                  </a:moveTo>
                  <a:lnTo>
                    <a:pt x="8015732" y="0"/>
                  </a:lnTo>
                  <a:lnTo>
                    <a:pt x="8015732" y="3132963"/>
                  </a:lnTo>
                  <a:lnTo>
                    <a:pt x="0" y="3132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5" r="0" b="-7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92991" y="4380900"/>
            <a:ext cx="4025570" cy="1844230"/>
            <a:chOff x="0" y="0"/>
            <a:chExt cx="5367426" cy="2458974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367401" cy="2458974"/>
            </a:xfrm>
            <a:custGeom>
              <a:avLst/>
              <a:gdLst/>
              <a:ahLst/>
              <a:cxnLst/>
              <a:rect r="r" b="b" t="t" l="l"/>
              <a:pathLst>
                <a:path h="2458974" w="5367401">
                  <a:moveTo>
                    <a:pt x="0" y="0"/>
                  </a:moveTo>
                  <a:lnTo>
                    <a:pt x="5367401" y="0"/>
                  </a:lnTo>
                  <a:lnTo>
                    <a:pt x="5367401" y="2458974"/>
                  </a:lnTo>
                  <a:lnTo>
                    <a:pt x="0" y="2458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" r="0" b="-5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991" y="6304817"/>
            <a:ext cx="4762824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Avg &amp; Total Purchase per Customer — Query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92991" y="6606130"/>
            <a:ext cx="5930522" cy="3255931"/>
            <a:chOff x="0" y="0"/>
            <a:chExt cx="7907363" cy="4341241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7907401" cy="4341241"/>
            </a:xfrm>
            <a:custGeom>
              <a:avLst/>
              <a:gdLst/>
              <a:ahLst/>
              <a:cxnLst/>
              <a:rect r="r" b="b" t="t" l="l"/>
              <a:pathLst>
                <a:path h="4341241" w="7907401">
                  <a:moveTo>
                    <a:pt x="0" y="0"/>
                  </a:moveTo>
                  <a:lnTo>
                    <a:pt x="7907401" y="0"/>
                  </a:lnTo>
                  <a:lnTo>
                    <a:pt x="7907401" y="4341241"/>
                  </a:lnTo>
                  <a:lnTo>
                    <a:pt x="0" y="4341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" t="0" r="-4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333519" y="1650159"/>
            <a:ext cx="5775027" cy="22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Top 5 Customers by Purchase Amount — Query &amp; Result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33519" y="1951472"/>
            <a:ext cx="6655565" cy="3256074"/>
            <a:chOff x="0" y="0"/>
            <a:chExt cx="8874087" cy="4341432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8874125" cy="4341495"/>
            </a:xfrm>
            <a:custGeom>
              <a:avLst/>
              <a:gdLst/>
              <a:ahLst/>
              <a:cxnLst/>
              <a:rect r="r" b="b" t="t" l="l"/>
              <a:pathLst>
                <a:path h="4341495" w="8874125">
                  <a:moveTo>
                    <a:pt x="0" y="0"/>
                  </a:moveTo>
                  <a:lnTo>
                    <a:pt x="8874125" y="0"/>
                  </a:lnTo>
                  <a:lnTo>
                    <a:pt x="8874125" y="4341495"/>
                  </a:lnTo>
                  <a:lnTo>
                    <a:pt x="0" y="434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" r="0" b="-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33519" y="5287232"/>
            <a:ext cx="6481905" cy="3256074"/>
            <a:chOff x="0" y="0"/>
            <a:chExt cx="8642540" cy="4341432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8642477" cy="4341495"/>
            </a:xfrm>
            <a:custGeom>
              <a:avLst/>
              <a:gdLst/>
              <a:ahLst/>
              <a:cxnLst/>
              <a:rect r="r" b="b" t="t" l="l"/>
              <a:pathLst>
                <a:path h="4341495" w="8642477">
                  <a:moveTo>
                    <a:pt x="0" y="0"/>
                  </a:moveTo>
                  <a:lnTo>
                    <a:pt x="8642477" y="0"/>
                  </a:lnTo>
                  <a:lnTo>
                    <a:pt x="8642477" y="4341495"/>
                  </a:lnTo>
                  <a:lnTo>
                    <a:pt x="0" y="4341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60" r="0" b="-59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23994" y="8613457"/>
            <a:ext cx="3975973" cy="813092"/>
            <a:chOff x="0" y="0"/>
            <a:chExt cx="5301298" cy="108412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01361" cy="1084199"/>
            </a:xfrm>
            <a:custGeom>
              <a:avLst/>
              <a:gdLst/>
              <a:ahLst/>
              <a:cxnLst/>
              <a:rect r="r" b="b" t="t" l="l"/>
              <a:pathLst>
                <a:path h="1084199" w="5301361">
                  <a:moveTo>
                    <a:pt x="0" y="81407"/>
                  </a:moveTo>
                  <a:cubicBezTo>
                    <a:pt x="0" y="36449"/>
                    <a:pt x="36449" y="0"/>
                    <a:pt x="81407" y="0"/>
                  </a:cubicBezTo>
                  <a:lnTo>
                    <a:pt x="5219954" y="0"/>
                  </a:lnTo>
                  <a:cubicBezTo>
                    <a:pt x="5264912" y="0"/>
                    <a:pt x="5301361" y="36449"/>
                    <a:pt x="5301361" y="81407"/>
                  </a:cubicBezTo>
                  <a:lnTo>
                    <a:pt x="5301361" y="1002792"/>
                  </a:lnTo>
                  <a:cubicBezTo>
                    <a:pt x="5301361" y="1047750"/>
                    <a:pt x="5264912" y="1084199"/>
                    <a:pt x="5219954" y="1084199"/>
                  </a:cubicBezTo>
                  <a:lnTo>
                    <a:pt x="81407" y="1084199"/>
                  </a:lnTo>
                  <a:cubicBezTo>
                    <a:pt x="36449" y="1084072"/>
                    <a:pt x="0" y="1047750"/>
                    <a:pt x="0" y="1002792"/>
                  </a:cubicBezTo>
                  <a:close/>
                </a:path>
              </a:pathLst>
            </a:custGeom>
            <a:solidFill>
              <a:srgbClr val="272525"/>
            </a:solidFill>
            <a:ln w="19065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494377" y="8783850"/>
            <a:ext cx="1810226" cy="23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👥</a:t>
            </a:r>
            <a:r>
              <a:rPr lang="en-US" sz="1351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Active Customers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94377" y="9085907"/>
            <a:ext cx="3635197" cy="17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156 out of 200 customers placed orders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351793" y="8613457"/>
            <a:ext cx="3976126" cy="813092"/>
            <a:chOff x="0" y="0"/>
            <a:chExt cx="5301501" cy="10841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01615" cy="1084199"/>
            </a:xfrm>
            <a:custGeom>
              <a:avLst/>
              <a:gdLst/>
              <a:ahLst/>
              <a:cxnLst/>
              <a:rect r="r" b="b" t="t" l="l"/>
              <a:pathLst>
                <a:path h="1084199" w="5301615">
                  <a:moveTo>
                    <a:pt x="0" y="81407"/>
                  </a:moveTo>
                  <a:cubicBezTo>
                    <a:pt x="0" y="36449"/>
                    <a:pt x="36449" y="0"/>
                    <a:pt x="81407" y="0"/>
                  </a:cubicBezTo>
                  <a:lnTo>
                    <a:pt x="5220208" y="0"/>
                  </a:lnTo>
                  <a:cubicBezTo>
                    <a:pt x="5265166" y="0"/>
                    <a:pt x="5301615" y="36449"/>
                    <a:pt x="5301615" y="81407"/>
                  </a:cubicBezTo>
                  <a:lnTo>
                    <a:pt x="5301615" y="1002792"/>
                  </a:lnTo>
                  <a:cubicBezTo>
                    <a:pt x="5301615" y="1047750"/>
                    <a:pt x="5265166" y="1084199"/>
                    <a:pt x="5220208" y="1084199"/>
                  </a:cubicBezTo>
                  <a:lnTo>
                    <a:pt x="81407" y="1084199"/>
                  </a:lnTo>
                  <a:cubicBezTo>
                    <a:pt x="36449" y="1084072"/>
                    <a:pt x="0" y="1047750"/>
                    <a:pt x="0" y="1002792"/>
                  </a:cubicBezTo>
                  <a:close/>
                </a:path>
              </a:pathLst>
            </a:custGeom>
            <a:solidFill>
              <a:srgbClr val="272525"/>
            </a:solidFill>
            <a:ln w="19065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3522185" y="8783850"/>
            <a:ext cx="1773288" cy="23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🏆</a:t>
            </a:r>
            <a:r>
              <a:rPr lang="en-US" sz="1351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Top Buyer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522185" y="9085907"/>
            <a:ext cx="3635350" cy="17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Jyotika — 7 orders · Aditi Rao — 6 · Chetan Naidu — 5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23994" y="9478385"/>
            <a:ext cx="8003924" cy="813092"/>
            <a:chOff x="0" y="0"/>
            <a:chExt cx="10671899" cy="10841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71937" cy="1084199"/>
            </a:xfrm>
            <a:custGeom>
              <a:avLst/>
              <a:gdLst/>
              <a:ahLst/>
              <a:cxnLst/>
              <a:rect r="r" b="b" t="t" l="l"/>
              <a:pathLst>
                <a:path h="1084199" w="10671937">
                  <a:moveTo>
                    <a:pt x="0" y="81407"/>
                  </a:moveTo>
                  <a:cubicBezTo>
                    <a:pt x="0" y="36449"/>
                    <a:pt x="36449" y="0"/>
                    <a:pt x="81407" y="0"/>
                  </a:cubicBezTo>
                  <a:lnTo>
                    <a:pt x="10590530" y="0"/>
                  </a:lnTo>
                  <a:cubicBezTo>
                    <a:pt x="10635488" y="0"/>
                    <a:pt x="10671937" y="36449"/>
                    <a:pt x="10671937" y="81407"/>
                  </a:cubicBezTo>
                  <a:lnTo>
                    <a:pt x="10671937" y="1002792"/>
                  </a:lnTo>
                  <a:cubicBezTo>
                    <a:pt x="10671937" y="1047750"/>
                    <a:pt x="10635488" y="1084199"/>
                    <a:pt x="10590530" y="1084199"/>
                  </a:cubicBezTo>
                  <a:lnTo>
                    <a:pt x="81407" y="1084199"/>
                  </a:lnTo>
                  <a:cubicBezTo>
                    <a:pt x="36449" y="1084072"/>
                    <a:pt x="0" y="1047750"/>
                    <a:pt x="0" y="1002792"/>
                  </a:cubicBezTo>
                  <a:close/>
                </a:path>
              </a:pathLst>
            </a:custGeom>
            <a:solidFill>
              <a:srgbClr val="272525"/>
            </a:solidFill>
            <a:ln w="19065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494377" y="9648777"/>
            <a:ext cx="1773288" cy="231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6"/>
              </a:lnSpc>
            </a:pPr>
            <a:r>
              <a:rPr lang="en-US" sz="1351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💳</a:t>
            </a:r>
            <a:r>
              <a:rPr lang="en-US" sz="1351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Purchase Range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94377" y="9950834"/>
            <a:ext cx="7663148" cy="17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Avg purchase value: ₹133.51 to ₹1,944 per customer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C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27252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63231" y="846353"/>
            <a:ext cx="2090385" cy="429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726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446124"/>
            <a:ext cx="8008696" cy="915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1"/>
              </a:lnSpc>
            </a:pPr>
            <a:r>
              <a:rPr lang="en-US" sz="555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Key Insights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8219" y="2782138"/>
            <a:ext cx="8025527" cy="2571531"/>
            <a:chOff x="0" y="0"/>
            <a:chExt cx="10700702" cy="34287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00766" cy="3428746"/>
            </a:xfrm>
            <a:custGeom>
              <a:avLst/>
              <a:gdLst/>
              <a:ahLst/>
              <a:cxnLst/>
              <a:rect r="r" b="b" t="t" l="l"/>
              <a:pathLst>
                <a:path h="3428746" w="10700766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10541254" y="0"/>
                  </a:lnTo>
                  <a:cubicBezTo>
                    <a:pt x="10629392" y="0"/>
                    <a:pt x="10700766" y="71374"/>
                    <a:pt x="10700766" y="159512"/>
                  </a:cubicBezTo>
                  <a:lnTo>
                    <a:pt x="10700766" y="3269234"/>
                  </a:lnTo>
                  <a:cubicBezTo>
                    <a:pt x="10700766" y="3357372"/>
                    <a:pt x="10629392" y="3428746"/>
                    <a:pt x="10541254" y="3428746"/>
                  </a:cubicBezTo>
                  <a:lnTo>
                    <a:pt x="159512" y="3428746"/>
                  </a:lnTo>
                  <a:cubicBezTo>
                    <a:pt x="71374" y="3428746"/>
                    <a:pt x="0" y="3357245"/>
                    <a:pt x="0" y="3269234"/>
                  </a:cubicBezTo>
                  <a:close/>
                </a:path>
              </a:pathLst>
            </a:custGeom>
            <a:solidFill>
              <a:srgbClr val="110080"/>
            </a:solidFill>
            <a:ln w="9532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86256" y="3061125"/>
            <a:ext cx="4856216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🛒</a:t>
            </a:r>
            <a:r>
              <a:rPr lang="en-US" sz="2777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Diverse Product Portfolio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6256" y="3617471"/>
            <a:ext cx="7429462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5 categories with moderate pricing. </a:t>
            </a:r>
            <a:r>
              <a:rPr lang="en-US" sz="2176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Grains &amp; Cereals</a:t>
            </a:r>
            <a:r>
              <a:rPr lang="en-US" sz="21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2176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Snacks &amp; Confectioneries</a:t>
            </a:r>
            <a:r>
              <a:rPr lang="en-US" sz="21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are the highest-revenue categories.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87942" y="2782138"/>
            <a:ext cx="8025670" cy="2571531"/>
            <a:chOff x="0" y="0"/>
            <a:chExt cx="10700893" cy="3428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00893" cy="3428746"/>
            </a:xfrm>
            <a:custGeom>
              <a:avLst/>
              <a:gdLst/>
              <a:ahLst/>
              <a:cxnLst/>
              <a:rect r="r" b="b" t="t" l="l"/>
              <a:pathLst>
                <a:path h="3428746" w="10700893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10541381" y="0"/>
                  </a:lnTo>
                  <a:cubicBezTo>
                    <a:pt x="10629519" y="0"/>
                    <a:pt x="10700893" y="71374"/>
                    <a:pt x="10700893" y="159512"/>
                  </a:cubicBezTo>
                  <a:lnTo>
                    <a:pt x="10700893" y="3269234"/>
                  </a:lnTo>
                  <a:cubicBezTo>
                    <a:pt x="10700893" y="3357372"/>
                    <a:pt x="10629519" y="3428746"/>
                    <a:pt x="10541381" y="3428746"/>
                  </a:cubicBezTo>
                  <a:lnTo>
                    <a:pt x="159512" y="3428746"/>
                  </a:lnTo>
                  <a:cubicBezTo>
                    <a:pt x="71374" y="3428746"/>
                    <a:pt x="0" y="3357245"/>
                    <a:pt x="0" y="3269234"/>
                  </a:cubicBezTo>
                  <a:close/>
                </a:path>
              </a:pathLst>
            </a:custGeom>
            <a:solidFill>
              <a:srgbClr val="110080"/>
            </a:solidFill>
            <a:ln w="9532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585979" y="3061125"/>
            <a:ext cx="4328960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🏭</a:t>
            </a:r>
            <a:r>
              <a:rPr lang="en-US" sz="2777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Aarya — Star Supplier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85979" y="3617471"/>
            <a:ext cx="7429614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Aarya dominates across multiple categories, contributing the highest total revenue of ₹2,21,138. Sai and Karthik show category-specific strength.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88219" y="5627865"/>
            <a:ext cx="8025527" cy="2571531"/>
            <a:chOff x="0" y="0"/>
            <a:chExt cx="10700702" cy="34287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00766" cy="3428746"/>
            </a:xfrm>
            <a:custGeom>
              <a:avLst/>
              <a:gdLst/>
              <a:ahLst/>
              <a:cxnLst/>
              <a:rect r="r" b="b" t="t" l="l"/>
              <a:pathLst>
                <a:path h="3428746" w="10700766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10541254" y="0"/>
                  </a:lnTo>
                  <a:cubicBezTo>
                    <a:pt x="10629392" y="0"/>
                    <a:pt x="10700766" y="71374"/>
                    <a:pt x="10700766" y="159512"/>
                  </a:cubicBezTo>
                  <a:lnTo>
                    <a:pt x="10700766" y="3269234"/>
                  </a:lnTo>
                  <a:cubicBezTo>
                    <a:pt x="10700766" y="3357372"/>
                    <a:pt x="10629392" y="3428746"/>
                    <a:pt x="10541254" y="3428746"/>
                  </a:cubicBezTo>
                  <a:lnTo>
                    <a:pt x="159512" y="3428746"/>
                  </a:lnTo>
                  <a:cubicBezTo>
                    <a:pt x="71374" y="3428746"/>
                    <a:pt x="0" y="3357245"/>
                    <a:pt x="0" y="3269234"/>
                  </a:cubicBezTo>
                  <a:close/>
                </a:path>
              </a:pathLst>
            </a:custGeom>
            <a:solidFill>
              <a:srgbClr val="110080"/>
            </a:solidFill>
            <a:ln w="9532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86256" y="5906853"/>
            <a:ext cx="4307072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👥</a:t>
            </a:r>
            <a:r>
              <a:rPr lang="en-US" sz="2777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Mixed Customer Base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6256" y="6463208"/>
            <a:ext cx="7429462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156 active customers with wide spending variation (₹133 to ₹1,944 avg). Opportunity to increase retention and upsell.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87942" y="5627865"/>
            <a:ext cx="8025670" cy="2571531"/>
            <a:chOff x="0" y="0"/>
            <a:chExt cx="10700893" cy="34287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00893" cy="3428746"/>
            </a:xfrm>
            <a:custGeom>
              <a:avLst/>
              <a:gdLst/>
              <a:ahLst/>
              <a:cxnLst/>
              <a:rect r="r" b="b" t="t" l="l"/>
              <a:pathLst>
                <a:path h="3428746" w="10700893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10541381" y="0"/>
                  </a:lnTo>
                  <a:cubicBezTo>
                    <a:pt x="10629519" y="0"/>
                    <a:pt x="10700893" y="71374"/>
                    <a:pt x="10700893" y="159512"/>
                  </a:cubicBezTo>
                  <a:lnTo>
                    <a:pt x="10700893" y="3269234"/>
                  </a:lnTo>
                  <a:cubicBezTo>
                    <a:pt x="10700893" y="3357372"/>
                    <a:pt x="10629519" y="3428746"/>
                    <a:pt x="10541381" y="3428746"/>
                  </a:cubicBezTo>
                  <a:lnTo>
                    <a:pt x="159512" y="3428746"/>
                  </a:lnTo>
                  <a:cubicBezTo>
                    <a:pt x="71374" y="3428746"/>
                    <a:pt x="0" y="3357245"/>
                    <a:pt x="0" y="3269234"/>
                  </a:cubicBezTo>
                  <a:close/>
                </a:path>
              </a:pathLst>
            </a:custGeom>
            <a:solidFill>
              <a:srgbClr val="110080"/>
            </a:solidFill>
            <a:ln w="9532" cap="sq">
              <a:solidFill>
                <a:srgbClr val="2A1999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9585979" y="5906853"/>
            <a:ext cx="4650076" cy="46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2777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📈</a:t>
            </a:r>
            <a:r>
              <a:rPr lang="en-US" sz="2777" b="true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Strong Growth Potential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85979" y="6463208"/>
            <a:ext cx="7429614" cy="143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7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Focusing on top-performing suppliers, high-revenue categories, and loyal customers can drive sustainable business growth.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991" y="8584711"/>
            <a:ext cx="16315868" cy="38129"/>
            <a:chOff x="0" y="0"/>
            <a:chExt cx="21754490" cy="508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754464" cy="50800"/>
            </a:xfrm>
            <a:custGeom>
              <a:avLst/>
              <a:gdLst/>
              <a:ahLst/>
              <a:cxnLst/>
              <a:rect r="r" b="b" t="t" l="l"/>
              <a:pathLst>
                <a:path h="50800" w="21754464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29064" y="0"/>
                  </a:lnTo>
                  <a:cubicBezTo>
                    <a:pt x="21743161" y="0"/>
                    <a:pt x="21754464" y="11430"/>
                    <a:pt x="21754464" y="25400"/>
                  </a:cubicBezTo>
                  <a:cubicBezTo>
                    <a:pt x="21754464" y="39370"/>
                    <a:pt x="21743034" y="50800"/>
                    <a:pt x="21729064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E5E0DF">
                <a:alpha val="24706"/>
              </a:srgbClr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35438" y="8936726"/>
            <a:ext cx="17230954" cy="53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74"/>
              </a:lnSpc>
            </a:pPr>
            <a:r>
              <a:rPr lang="en-US" sz="2176" i="true">
                <a:solidFill>
                  <a:srgbClr val="E5E0DF"/>
                </a:solidFill>
                <a:latin typeface="Inter Italics"/>
                <a:ea typeface="Inter Italics"/>
                <a:cs typeface="Inter Italics"/>
                <a:sym typeface="Inter Italics"/>
              </a:rPr>
              <a:t>Tools Used: MySQL Workbench  |  Concepts: Joins, Aggregations, CTEs, Window Functions, Subqueries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DAHNshVtzcA</dc:identifier>
  <dcterms:modified xsi:type="dcterms:W3CDTF">2011-08-01T06:04:30Z</dcterms:modified>
  <cp:revision>1</cp:revision>
  <dc:title>Grocery-Store-Management (1).pptx</dc:title>
</cp:coreProperties>
</file>